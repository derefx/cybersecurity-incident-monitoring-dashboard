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548819fc9349b3" /><Relationship Type="http://schemas.openxmlformats.org/officeDocument/2006/relationships/extended-properties" Target="/docProps/app.xml" Id="Re7f81da079dc49cf" /><Relationship Type="http://schemas.openxmlformats.org/officeDocument/2006/relationships/officeDocument" Target="/ppt/presentation.xml" Id="Rc4d025e8fbd94b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7293bb6f324aa4"/>
  </p:sldMasterIdLst>
  <p:notesMasterIdLst>
    <p:notesMasterId xmlns:r="http://schemas.openxmlformats.org/officeDocument/2006/relationships" r:id="Rd2d61bcb2ced4b08"/>
  </p:notesMasterIdLst>
  <p:sldIdLst>
    <p:sldId xmlns:r="http://schemas.openxmlformats.org/officeDocument/2006/relationships" id="256" r:id="R6e944f7b15dd4e4d"/>
    <p:sldId xmlns:r="http://schemas.openxmlformats.org/officeDocument/2006/relationships" id="257" r:id="R080ff53898ca41fa"/>
    <p:sldId xmlns:r="http://schemas.openxmlformats.org/officeDocument/2006/relationships" id="258" r:id="R61d15f9946de44f3"/>
    <p:sldId xmlns:r="http://schemas.openxmlformats.org/officeDocument/2006/relationships" id="259" r:id="Re46e22f21b6f466b"/>
    <p:sldId xmlns:r="http://schemas.openxmlformats.org/officeDocument/2006/relationships" id="260" r:id="Ra67a57390b4843bc"/>
    <p:sldId xmlns:r="http://schemas.openxmlformats.org/officeDocument/2006/relationships" id="261" r:id="R8e73c76c5a4645c7"/>
    <p:sldId xmlns:r="http://schemas.openxmlformats.org/officeDocument/2006/relationships" id="262" r:id="R9db376f5ac1c40da"/>
    <p:sldId xmlns:r="http://schemas.openxmlformats.org/officeDocument/2006/relationships" id="263" r:id="Rafbcb29449fa4ef4"/>
    <p:sldId xmlns:r="http://schemas.openxmlformats.org/officeDocument/2006/relationships" id="264" r:id="R11549e2d85024ca2"/>
    <p:sldId xmlns:r="http://schemas.openxmlformats.org/officeDocument/2006/relationships" id="265" r:id="Ra702d5239c6f4976"/>
    <p:sldId xmlns:r="http://schemas.openxmlformats.org/officeDocument/2006/relationships" id="266" r:id="Rd608d3e045ee4d13"/>
    <p:sldId xmlns:r="http://schemas.openxmlformats.org/officeDocument/2006/relationships" id="267" r:id="Rb27cc6c8c7644bab"/>
    <p:sldId xmlns:r="http://schemas.openxmlformats.org/officeDocument/2006/relationships" id="268" r:id="R4dc43f7d318a4547"/>
    <p:sldId xmlns:r="http://schemas.openxmlformats.org/officeDocument/2006/relationships" id="269" r:id="R85a544423227486a"/>
    <p:sldId xmlns:r="http://schemas.openxmlformats.org/officeDocument/2006/relationships" id="270" r:id="Ra97bfa742ca040a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e606081cb54e8d" /><Relationship Type="http://schemas.openxmlformats.org/officeDocument/2006/relationships/slideMaster" Target="/ppt/slideMasters/slideMaster1.xml" Id="R1b7293bb6f324aa4" /><Relationship Type="http://schemas.openxmlformats.org/officeDocument/2006/relationships/notesMaster" Target="/ppt/notesMasters/notesMaster1.xml" Id="Rd2d61bcb2ced4b08" /><Relationship Type="http://schemas.openxmlformats.org/officeDocument/2006/relationships/presProps" Target="/ppt/presProps.xml" Id="R22d76fca12514f21" /><Relationship Type="http://schemas.openxmlformats.org/officeDocument/2006/relationships/tableStyles" Target="/ppt/tableStyles.xml" Id="R7aa0a6359ad94563" /><Relationship Type="http://schemas.openxmlformats.org/officeDocument/2006/relationships/slide" Target="/ppt/slides/slide1.xml" Id="R6e944f7b15dd4e4d" /><Relationship Type="http://schemas.openxmlformats.org/officeDocument/2006/relationships/slide" Target="/ppt/slides/slide2.xml" Id="R080ff53898ca41fa" /><Relationship Type="http://schemas.openxmlformats.org/officeDocument/2006/relationships/slide" Target="/ppt/slides/slide3.xml" Id="R61d15f9946de44f3" /><Relationship Type="http://schemas.openxmlformats.org/officeDocument/2006/relationships/slide" Target="/ppt/slides/slide4.xml" Id="Re46e22f21b6f466b" /><Relationship Type="http://schemas.openxmlformats.org/officeDocument/2006/relationships/slide" Target="/ppt/slides/slide5.xml" Id="Ra67a57390b4843bc" /><Relationship Type="http://schemas.openxmlformats.org/officeDocument/2006/relationships/slide" Target="/ppt/slides/slide6.xml" Id="R8e73c76c5a4645c7" /><Relationship Type="http://schemas.openxmlformats.org/officeDocument/2006/relationships/slide" Target="/ppt/slides/slide7.xml" Id="R9db376f5ac1c40da" /><Relationship Type="http://schemas.openxmlformats.org/officeDocument/2006/relationships/slide" Target="/ppt/slides/slide8.xml" Id="Rafbcb29449fa4ef4" /><Relationship Type="http://schemas.openxmlformats.org/officeDocument/2006/relationships/slide" Target="/ppt/slides/slide9.xml" Id="R11549e2d85024ca2" /><Relationship Type="http://schemas.openxmlformats.org/officeDocument/2006/relationships/slide" Target="/ppt/slides/slide10.xml" Id="Ra702d5239c6f4976" /><Relationship Type="http://schemas.openxmlformats.org/officeDocument/2006/relationships/slide" Target="/ppt/slides/slide11.xml" Id="Rd608d3e045ee4d13" /><Relationship Type="http://schemas.openxmlformats.org/officeDocument/2006/relationships/slide" Target="/ppt/slides/slide12.xml" Id="Rb27cc6c8c7644bab" /><Relationship Type="http://schemas.openxmlformats.org/officeDocument/2006/relationships/slide" Target="/ppt/slides/slide13.xml" Id="R4dc43f7d318a4547" /><Relationship Type="http://schemas.openxmlformats.org/officeDocument/2006/relationships/slide" Target="/ppt/slides/slide14.xml" Id="R85a544423227486a" /><Relationship Type="http://schemas.openxmlformats.org/officeDocument/2006/relationships/slide" Target="/ppt/slides/slide15.xml" Id="Ra97bfa742ca040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59c8fa4c3643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f8c6bd17294961" /><Relationship Type="http://schemas.openxmlformats.org/officeDocument/2006/relationships/notesMaster" Target="/ppt/notesMasters/notesMaster1.xml" Id="R02720a4b4af74a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ab1a464822425c" /><Relationship Type="http://schemas.openxmlformats.org/officeDocument/2006/relationships/notesMaster" Target="/ppt/notesMasters/notesMaster1.xml" Id="R0f433f0bbd654e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20345168984f8c" /><Relationship Type="http://schemas.openxmlformats.org/officeDocument/2006/relationships/notesMaster" Target="/ppt/notesMasters/notesMaster1.xml" Id="Rbaf05c1fc2fc46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1ed564109b4bb8" /><Relationship Type="http://schemas.openxmlformats.org/officeDocument/2006/relationships/notesMaster" Target="/ppt/notesMasters/notesMaster1.xml" Id="Ra599f43656ca40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d4fe0b05ce4ae7" /><Relationship Type="http://schemas.openxmlformats.org/officeDocument/2006/relationships/notesMaster" Target="/ppt/notesMasters/notesMaster1.xml" Id="Rbd7b735b77384d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52e232d076426f" /><Relationship Type="http://schemas.openxmlformats.org/officeDocument/2006/relationships/notesMaster" Target="/ppt/notesMasters/notesMaster1.xml" Id="R269431f846c341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72db910a9a4468" /><Relationship Type="http://schemas.openxmlformats.org/officeDocument/2006/relationships/notesMaster" Target="/ppt/notesMasters/notesMaster1.xml" Id="R4a594d0abfb546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4765301c064142" /><Relationship Type="http://schemas.openxmlformats.org/officeDocument/2006/relationships/notesMaster" Target="/ppt/notesMasters/notesMaster1.xml" Id="Rf12136298f6245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cb43e06b48470b" /><Relationship Type="http://schemas.openxmlformats.org/officeDocument/2006/relationships/notesMaster" Target="/ppt/notesMasters/notesMaster1.xml" Id="R41e64e42c04e42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bd6b53c7ee4b63" /><Relationship Type="http://schemas.openxmlformats.org/officeDocument/2006/relationships/notesMaster" Target="/ppt/notesMasters/notesMaster1.xml" Id="R93edd6812fa848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e7c756216b4b64" /><Relationship Type="http://schemas.openxmlformats.org/officeDocument/2006/relationships/notesMaster" Target="/ppt/notesMasters/notesMaster1.xml" Id="R1ec536db531441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076310d5f547aa" /><Relationship Type="http://schemas.openxmlformats.org/officeDocument/2006/relationships/notesMaster" Target="/ppt/notesMasters/notesMaster1.xml" Id="Ra6de209411964b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c590eb3a8e4655" /><Relationship Type="http://schemas.openxmlformats.org/officeDocument/2006/relationships/notesMaster" Target="/ppt/notesMasters/notesMaster1.xml" Id="R7f1aef9b0a924e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a41a90ec2a4b9c" /><Relationship Type="http://schemas.openxmlformats.org/officeDocument/2006/relationships/notesMaster" Target="/ppt/notesMasters/notesMaster1.xml" Id="R65a78ce31b0145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ab6520159e4205" /><Relationship Type="http://schemas.openxmlformats.org/officeDocument/2006/relationships/notesMaster" Target="/ppt/notesMasters/notesMaster1.xml" Id="R4407ac8ba9ba4c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README.md; output/report/Cybersecurity_Incident_Monitoring_Project_Report.docx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Report chapter 2</a:t>
            </a:r>
          </a:p>
          <a:p xmlns:a="http://schemas.openxmlformats.org/drawingml/2006/main">
            <a:r>
              <a:t>The office story is an illustrative problem scenario, not a claim about an actual incident. SDG definitions: https://sdgs.un.org/goals/goal9 and https://sdgs.un.org/goals/goal16.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docs/DATA_DICTIONARY.md; config/dataset_mappings.py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etl/pipeline.py; database/mongo_repository.py; incidents/incident_service.py</a:t>
            </a:r>
          </a:p>
          <a:p xmlns:a="http://schemas.openxmlformats.org/drawingml/2006/main">
            <a:r>
              <a:t>MongoDB and MySQL do not share one transaction. Stable keys support retry-based recovery.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database/schema.sql; database/mongo_connection.py; database/mongo_repository.py</a:t>
            </a:r>
          </a:p>
          <a:p xmlns:a="http://schemas.openxmlformats.org/drawingml/2006/main">
            <a:r>
              <a:t>SQL can also store JSON logs. MongoDB is a modelling choice. MySQL relational constraints: https://dev.mysql.com/doc/refman/8.0/en/create-table-foreign-keys.html. MongoDB document modelling: https://www.mongodb.com/docs/manual/data-modeling/embedding/.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database/schema.sql</a:t>
            </a:r>
          </a:p>
          <a:p xmlns:a="http://schemas.openxmlformats.org/drawingml/2006/main">
            <a:r>
              <a:t>The schema has seven InnoDB tables. External identity uniqueness includes source_dataset. Network incidents can retain nullable user/system links.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etl/models.py; etl/upload_history.py; etl/existing_sources.py; ui/visibility.py</a:t>
            </a:r>
          </a:p>
          <a:p xmlns:a="http://schemas.openxmlformats.org/drawingml/2006/main">
            <a:r>
              <a:t>The JSON shown is an explicitly synthetic schema illustration, not a claimed real event. Inclusion switches filter analytics without deleting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detection/failed_login.py; detection/suspicious_access.py; detection/ml_network.py; incidents/incident_service.py</a:t>
            </a:r>
          </a:p>
          <a:p xmlns:a="http://schemas.openxmlformats.org/drawingml/2006/main">
            <a:r>
              <a:t>The multi-origin rule counts IP/device combinations for successful logins. It emits at most one alert per source/user in a batch. Windows do not persist across uploads. Model probability threshold uses validation selection rather than a calibrated probability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models/network_classifier_metrics.json; models/overfitting_audit.json</a:t>
            </a:r>
          </a:p>
          <a:p xmlns:a="http://schemas.openxmlformats.org/drawingml/2006/main">
            <a:r>
              <a:t>Same 889-row held-out quickstart split. Model features exclude label, attack_cat, IDs, timestamps and IPs. Rule baseline calculates statistical thresholds on the test batch. Saved RF metrics: {"rows":889,"true_positives":751,"false_positives":0,"false_negatives":38,"true_negatives":100,"accuracy":0.9572553430821147,"precision":1,"recall":0.9518377693282636,"f1":0.9753246753246754}. This is representative generated data. Development-only recall is 94.89% after overlap removal, using the same prototype generator.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app.py; pages/1_Threat_Analytics.py; pages/2_User_Device_Monitoring.py; pages/3_Incident_Management.py</a:t>
            </a:r>
          </a:p>
          <a:p xmlns:a="http://schemas.openxmlformats.org/drawingml/2006/main">
            <a:r>
              <a:t>Screenshot: tmp/report_build/dashboard.png. Captured all-source snapshot contained 20,252 events and 6,169 incidents including historical rule and newer model cases. Counts are not model test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tmp/ppt_build/verify_acid.py; tmp/ppt_build/acid_evidence.json; database/mysql_connection.py; incidents/assignment_service.py</a:t>
            </a:r>
          </a:p>
          <a:p xmlns:a="http://schemas.openxmlformats.org/drawingml/2006/main">
            <a:r>
              <a:t>Actual checks: {</a:t>
            </a:r>
          </a:p>
          <a:p xmlns:a="http://schemas.openxmlformats.org/drawingml/2006/main">
            <a:r>
              <a:t>  "checked_at_utc": "2026-10-24T15:23:29.974678+00:00",</a:t>
            </a:r>
          </a:p>
          <a:p xmlns:a="http://schemas.openxmlformats.org/drawingml/2006/main">
            <a:r>
              <a:t>  "source_dataset": "synthetic_acid_proof_07ad96061a8f401d85ed75bf26114a70",</a:t>
            </a:r>
          </a:p>
          <a:p xmlns:a="http://schemas.openxmlformats.org/drawingml/2006/main">
            <a:r>
              <a:t>  "scope": "MySQL only; synthetic fixture; no server restart or cross-store atomicity test",</a:t>
            </a:r>
          </a:p>
          <a:p xmlns:a="http://schemas.openxmlformats.org/drawingml/2006/main">
            <a:r>
              <a:t>  "checks": {</a:t>
            </a:r>
          </a:p>
          <a:p xmlns:a="http://schemas.openxmlformats.org/drawingml/2006/main">
            <a:r>
              <a:t>    "atomicity": {</a:t>
            </a:r>
          </a:p>
          <a:p xmlns:a="http://schemas.openxmlformats.org/drawingml/2006/main">
            <a:r>
              <a:t>      "passed": true,</a:t>
            </a:r>
          </a:p>
          <a:p xmlns:a="http://schemas.openxmlformats.org/drawingml/2006/main">
            <a:r>
              <a:t>      "case_status": "open",</a:t>
            </a:r>
          </a:p>
          <a:p xmlns:a="http://schemas.openxmlformats.org/drawingml/2006/main">
            <a:r>
              <a:t>      "assignments_after_rollback": 0,</a:t>
            </a:r>
          </a:p>
          <a:p xmlns:a="http://schemas.openxmlformats.org/drawingml/2006/main">
            <a:r>
              <a:t>      "audits_after_rollback": 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"consistency": {</a:t>
            </a:r>
          </a:p>
          <a:p xmlns:a="http://schemas.openxmlformats.org/drawingml/2006/main">
            <a:r>
              <a:t>      "passed": true,</a:t>
            </a:r>
          </a:p>
          <a:p xmlns:a="http://schemas.openxmlformats.org/drawingml/2006/main">
            <a:r>
              <a:t>      "rejected_error_codes": {</a:t>
            </a:r>
          </a:p>
          <a:p xmlns:a="http://schemas.openxmlformats.org/drawingml/2006/main">
            <a:r>
              <a:t>        "check": 3819,</a:t>
            </a:r>
          </a:p>
          <a:p xmlns:a="http://schemas.openxmlformats.org/drawingml/2006/main">
            <a:r>
              <a:t>        "foreign_key": 1216,</a:t>
            </a:r>
          </a:p>
          <a:p xmlns:a="http://schemas.openxmlformats.org/drawingml/2006/main">
            <a:r>
              <a:t>        "unique": 1062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"isolation": {</a:t>
            </a:r>
          </a:p>
          <a:p xmlns:a="http://schemas.openxmlformats.org/drawingml/2006/main">
            <a:r>
              <a:t>      "passed": true,</a:t>
            </a:r>
          </a:p>
          <a:p xmlns:a="http://schemas.openxmlformats.org/drawingml/2006/main">
            <a:r>
              <a:t>      "second_session_read": "open",</a:t>
            </a:r>
          </a:p>
          <a:p xmlns:a="http://schemas.openxmlformats.org/drawingml/2006/main">
            <a:r>
              <a:t>      "conflicting_lock_error": 3572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"durability": {</a:t>
            </a:r>
          </a:p>
          <a:p xmlns:a="http://schemas.openxmlformats.org/drawingml/2006/main">
            <a:r>
              <a:t>      "passed": true,</a:t>
            </a:r>
          </a:p>
          <a:p xmlns:a="http://schemas.openxmlformats.org/drawingml/2006/main">
            <a:r>
              <a:t>      "new_connection_status": "assigned",</a:t>
            </a:r>
          </a:p>
          <a:p xmlns:a="http://schemas.openxmlformats.org/drawingml/2006/main">
            <a:r>
              <a:t>      "assignment_count": 1,</a:t>
            </a:r>
          </a:p>
          <a:p xmlns:a="http://schemas.openxmlformats.org/drawingml/2006/main">
            <a:r>
              <a:t>      "audit_count": 1,</a:t>
            </a:r>
          </a:p>
          <a:p xmlns:a="http://schemas.openxmlformats.org/drawingml/2006/main">
            <a:r>
              <a:t>      "flush_at_commit": 1,</a:t>
            </a:r>
          </a:p>
          <a:p xmlns:a="http://schemas.openxmlformats.org/drawingml/2006/main">
            <a:r>
              <a:t>      "limit": "Commit survives connection close and reopen. Crash/power-loss recovery was not tested."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"codd_evidence": {</a:t>
            </a:r>
          </a:p>
          <a:p xmlns:a="http://schemas.openxmlformats.org/drawingml/2006/main">
            <a:r>
              <a:t>      "pk_access": true,</a:t>
            </a:r>
          </a:p>
          <a:p xmlns:a="http://schemas.openxmlformats.org/drawingml/2006/main">
            <a:r>
              <a:t>      "systematic_nulls": {</a:t>
            </a:r>
          </a:p>
          <a:p xmlns:a="http://schemas.openxmlformats.org/drawingml/2006/main">
            <a:r>
              <a:t>        "unknown_user": 1,</a:t>
            </a:r>
          </a:p>
          <a:p xmlns:a="http://schemas.openxmlformats.org/drawingml/2006/main">
            <a:r>
              <a:t>        "unknown_system":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"catalog_relations": 3,</a:t>
            </a:r>
          </a:p>
          <a:p xmlns:a="http://schemas.openxmlformats.org/drawingml/2006/main">
            <a:r>
              <a:t>      "constraints_independent_of_python": {</a:t>
            </a:r>
          </a:p>
          <a:p xmlns:a="http://schemas.openxmlformats.org/drawingml/2006/main">
            <a:r>
              <a:t>        "check": 3819,</a:t>
            </a:r>
          </a:p>
          <a:p xmlns:a="http://schemas.openxmlformats.org/drawingml/2006/main">
            <a:r>
              <a:t>        "foreign_key": 1216,</a:t>
            </a:r>
          </a:p>
          <a:p xmlns:a="http://schemas.openxmlformats.org/drawingml/2006/main">
            <a:r>
              <a:t>        "unique": 1062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"fixture_incident_id": 6189,</a:t>
            </a:r>
          </a:p>
          <a:p xmlns:a="http://schemas.openxmlformats.org/drawingml/2006/main">
            <a:r>
              <a:t>  "server": {</a:t>
            </a:r>
          </a:p>
          <a:p xmlns:a="http://schemas.openxmlformats.org/drawingml/2006/main">
            <a:r>
              <a:t>    "version": "8.0.46",</a:t>
            </a:r>
          </a:p>
          <a:p xmlns:a="http://schemas.openxmlformats.org/drawingml/2006/main">
            <a:r>
              <a:t>    "isolation_level": "REPEATABLE-READ",</a:t>
            </a:r>
          </a:p>
          <a:p xmlns:a="http://schemas.openxmlformats.org/drawingml/2006/main">
            <a:r>
              <a:t>    "flush_at_commit": 1,</a:t>
            </a:r>
          </a:p>
          <a:p xmlns:a="http://schemas.openxmlformats.org/drawingml/2006/main">
            <a:r>
              <a:t>    "sync_binlog": 1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"engine":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"TABLE_NAME": "assignments",</a:t>
            </a:r>
          </a:p>
          <a:p xmlns:a="http://schemas.openxmlformats.org/drawingml/2006/main">
            <a:r>
              <a:t>      "ENGINE": "InnoDB"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"TABLE_NAME": "incident_audit_log",</a:t>
            </a:r>
          </a:p>
          <a:p xmlns:a="http://schemas.openxmlformats.org/drawingml/2006/main">
            <a:r>
              <a:t>      "ENGINE": "InnoDB"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"TABLE_NAME": "incidents",</a:t>
            </a:r>
          </a:p>
          <a:p xmlns:a="http://schemas.openxmlformats.org/drawingml/2006/main">
            <a:r>
              <a:t>      "ENGINE": "InnoDB"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"cleanup": {</a:t>
            </a:r>
          </a:p>
          <a:p xmlns:a="http://schemas.openxmlformats.org/drawingml/2006/main">
            <a:r>
              <a:t>    "synthetic_incidents_remaining": 0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Reproduce from repository root with .\.venv\Scripts\python.exe tmp/ppt_build/verify_acid.py. The script creates and cleans only uniquely marked synthetic rows. It never restarts a database service.</a:t>
            </a:r>
          </a:p>
          <a:p xmlns:a="http://schemas.openxmlformats.org/drawingml/2006/main">
            <a:r>
              <a:t>ACID implementation references: https://dev.mysql.com/doc/refman/8.0/en/mysql-acid.html and https://dev.mysql.com/doc/refman/8.0/en/innodb-parameters.html. NOWAIT: https://dev.mysql.com/doc/refman/8.0/en/select.html.</a:t>
            </a:r>
          </a:p>
          <a:p xmlns:a="http://schemas.openxmlformats.org/drawingml/2006/main">
            <a:r>
              <a:t>Codd original 1985 rules reprint: https://reldb.org/c/index.php/twelve-rules/. This is project-level evidence, not certification of MySQL as a fully relational DBMS. Rule 5 includes view definition and authorization in its full definition, not established here. Rule 12 requires low-level non-subversion, beyond the direct SQL check demonstrated.</a:t>
            </a:r>
          </a:p>
          <a:p xmlns:a="http://schemas.openxmlformats.org/drawingml/2006/main">
            <a:r>
              <a:t>Full runnable proof source:</a:t>
            </a:r>
          </a:p>
          <a:p xmlns:a="http://schemas.openxmlformats.org/drawingml/2006/main">
            <a:r>
              <a:t>"""Isolated live MySQL transaction demonstration for the project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Creates uniquely marked synthetic rows, checks the real transaction wrapper,</a:t>
            </a:r>
          </a:p>
          <a:p xmlns:a="http://schemas.openxmlformats.org/drawingml/2006/main">
            <a:r>
              <a:t>and deletes only rows created by this run. Never restarts database services.</a:t>
            </a:r>
          </a:p>
          <a:p xmlns:a="http://schemas.openxmlformats.org/drawingml/2006/main">
            <a:r>
              <a:t>"""</a:t>
            </a:r>
          </a:p>
          <a:p xmlns:a="http://schemas.openxmlformats.org/drawingml/2006/main">
            <a:r>
              <a:t>from pathlib import Path</a:t>
            </a:r>
          </a:p>
          <a:p xmlns:a="http://schemas.openxmlformats.org/drawingml/2006/main">
            <a:r>
              <a:t>from uuid import uuid4</a:t>
            </a:r>
          </a:p>
          <a:p xmlns:a="http://schemas.openxmlformats.org/drawingml/2006/main">
            <a:r>
              <a:t>from datetime import datetime, timezone</a:t>
            </a:r>
          </a:p>
          <a:p xmlns:a="http://schemas.openxmlformats.org/drawingml/2006/main">
            <a:r>
              <a:t>import hashlib</a:t>
            </a:r>
          </a:p>
          <a:p xmlns:a="http://schemas.openxmlformats.org/drawingml/2006/main">
            <a:r>
              <a:t>import json</a:t>
            </a:r>
          </a:p>
          <a:p xmlns:a="http://schemas.openxmlformats.org/drawingml/2006/main">
            <a:r>
              <a:t>import sys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ROOT=Path(__file__).resolve().parents[2]</a:t>
            </a:r>
          </a:p>
          <a:p xmlns:a="http://schemas.openxmlformats.org/drawingml/2006/main">
            <a:r>
              <a:t>sys.path.insert(0,str(ROOT/'ml_version'))</a:t>
            </a:r>
          </a:p>
          <a:p xmlns:a="http://schemas.openxmlformats.org/drawingml/2006/main">
            <a:r>
              <a:t>from config.settings import Settings</a:t>
            </a:r>
          </a:p>
          <a:p xmlns:a="http://schemas.openxmlformats.org/drawingml/2006/main">
            <a:r>
              <a:t>from database.mysql_connection import MySQLDatabase</a:t>
            </a:r>
          </a:p>
          <a:p xmlns:a="http://schemas.openxmlformats.org/drawingml/2006/main">
            <a:r>
              <a:t>from incidents.assignment_service import AssignmentService</a:t>
            </a:r>
          </a:p>
          <a:p xmlns:a="http://schemas.openxmlformats.org/drawingml/2006/main">
            <a:r>
              <a:t>from mysql.connector import 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db=MySQLDatabase(Settings.from_env(),pool_size=4)</a:t>
            </a:r>
          </a:p>
          <a:p xmlns:a="http://schemas.openxmlformats.org/drawingml/2006/main">
            <a:r>
              <a:t>source='synthetic_acid_proof_'+uuid4().hex</a:t>
            </a:r>
          </a:p>
          <a:p xmlns:a="http://schemas.openxmlformats.org/drawingml/2006/main">
            <a:r>
              <a:t>key=hashlib.sha256(source.encode()).hexdigest()</a:t>
            </a:r>
          </a:p>
          <a:p xmlns:a="http://schemas.openxmlformats.org/drawingml/2006/main">
            <a:r>
              <a:t>incident_id=analyst_id=None</a:t>
            </a:r>
          </a:p>
          <a:p xmlns:a="http://schemas.openxmlformats.org/drawingml/2006/main">
            <a:r>
              <a:t>result={'checked_at_utc':datetime.now(timezone.utc).isoformat(),'source_dataset':source,</a:t>
            </a:r>
          </a:p>
          <a:p xmlns:a="http://schemas.openxmlformats.org/drawingml/2006/main">
            <a:r>
              <a:t>        'scope':'MySQL only; synthetic fixture; no server restart or cross-store atomicity test', 'checks':{}}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query(sql,params=()):</a:t>
            </a:r>
          </a:p>
          <a:p xmlns:a="http://schemas.openxmlformats.org/drawingml/2006/main">
            <a:r>
              <a:t>    with db.connection() as connection:</a:t>
            </a:r>
          </a:p>
          <a:p xmlns:a="http://schemas.openxmlformats.org/drawingml/2006/main">
            <a:r>
              <a:t>        cursor=connection.cursor(dictionary=True)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cursor.execute(sql,params)</a:t>
            </a:r>
          </a:p>
          <a:p xmlns:a="http://schemas.openxmlformats.org/drawingml/2006/main">
            <a:r>
              <a:t>            return cursor.fetchall()</a:t>
            </a:r>
          </a:p>
          <a:p xmlns:a="http://schemas.openxmlformats.org/drawingml/2006/main">
            <a:r>
              <a:t>        finally:</a:t>
            </a:r>
          </a:p>
          <a:p xmlns:a="http://schemas.openxmlformats.org/drawingml/2006/main">
            <a:r>
              <a:t>            connection.rollback();cursor.close()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 InjectedFailure(RuntimeError):pass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with db.transaction() as connection:</a:t>
            </a:r>
          </a:p>
          <a:p xmlns:a="http://schemas.openxmlformats.org/drawingml/2006/main">
            <a:r>
              <a:t>        cursor=connection.cursor()</a:t>
            </a:r>
          </a:p>
          <a:p xmlns:a="http://schemas.openxmlformats.org/drawingml/2006/main">
            <a:r>
              <a:t>        cursor.execute("SELECT category_id FROM threat_categories ORDER BY category_id LIMIT 1")</a:t>
            </a:r>
          </a:p>
          <a:p xmlns:a="http://schemas.openxmlformats.org/drawingml/2006/main">
            <a:r>
              <a:t>        category=cursor.fetchone()[0]</a:t>
            </a:r>
          </a:p>
          <a:p xmlns:a="http://schemas.openxmlformats.org/drawingml/2006/main">
            <a:r>
              <a:t>        cursor.execute("INSERT INTO analysts(name,role,team) VALUES(%s,'demonstration','synthetic ACID proof')",(source,))</a:t>
            </a:r>
          </a:p>
          <a:p xmlns:a="http://schemas.openxmlformats.org/drawingml/2006/main">
            <a:r>
              <a:t>        analyst_id=cursor.lastrowid</a:t>
            </a:r>
          </a:p>
          <a:p xmlns:a="http://schemas.openxmlformats.org/drawingml/2006/main">
            <a:r>
              <a:t>        cursor.execute("""INSERT INTO incidents(category_id,incident_time,severity,description,status,detected_by,</a:t>
            </a:r>
          </a:p>
          <a:p xmlns:a="http://schemas.openxmlformats.org/drawingml/2006/main">
            <a:r>
              <a:t>          source_dataset,detection_key) VALUES(%s,UTC_TIMESTAMP(6),'high','SYNTHETIC ACID DEMONSTRATION',</a:t>
            </a:r>
          </a:p>
          <a:p xmlns:a="http://schemas.openxmlformats.org/drawingml/2006/main">
            <a:r>
              <a:t>          'open','synthetic_acid_proof',%s,%s)""",(category,source,key))</a:t>
            </a:r>
          </a:p>
          <a:p xmlns:a="http://schemas.openxmlformats.org/drawingml/2006/main">
            <a:r>
              <a:t>        incident_id=cursor.lastrowid</a:t>
            </a:r>
          </a:p>
          <a:p xmlns:a="http://schemas.openxmlformats.org/drawingml/2006/main">
            <a:r>
              <a:t>        cursor.close()</a:t>
            </a:r>
          </a:p>
          <a:p xmlns:a="http://schemas.openxmlformats.org/drawingml/2006/main">
            <a:r>
              <a:t>    result['fixture_incident_id']=incident_id</a:t>
            </a:r>
          </a:p>
          <a:p xmlns:a="http://schemas.openxmlformats.org/drawingml/2006/main">
            <a:r>
              <a:t>    result['server']=query("SELECT @@version AS version, @@transaction_isolation AS isolation_level, @@innodb_flush_log_at_trx_commit AS flush_at_commit, @@sync_binlog AS sync_binlog")[0]</a:t>
            </a:r>
          </a:p>
          <a:p xmlns:a="http://schemas.openxmlformats.org/drawingml/2006/main">
            <a:r>
              <a:t>    engines=query("SELECT table_name,engine FROM information_schema.tables WHERE table_schema=DATABASE() AND table_name IN ('incidents','assignments','incident_audit_log')")</a:t>
            </a:r>
          </a:p>
          <a:p xmlns:a="http://schemas.openxmlformats.org/drawingml/2006/main">
            <a:r>
              <a:t>    assert len(engines)==3 and all(row['ENGINE']=='InnoDB' for row in engines)</a:t>
            </a:r>
          </a:p>
          <a:p xmlns:a="http://schemas.openxmlformats.org/drawingml/2006/main">
            <a:r>
              <a:t>    result['engine']=engines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# A: real service writes a case update, assignment and audit. Inject failure</a:t>
            </a:r>
          </a:p>
          <a:p xmlns:a="http://schemas.openxmlformats.org/drawingml/2006/main">
            <a:r>
              <a:t>    # before the wrapper's commit and verify every write disappears together.</a:t>
            </a:r>
          </a:p>
          <a:p xmlns:a="http://schemas.openxmlformats.org/drawingml/2006/main">
            <a:r>
              <a:t>    from contextlib import contextmanager</a:t>
            </a:r>
          </a:p>
          <a:p xmlns:a="http://schemas.openxmlformats.org/drawingml/2006/main">
            <a:r>
              <a:t>    class FaultDatabase:</a:t>
            </a:r>
          </a:p>
          <a:p xmlns:a="http://schemas.openxmlformats.org/drawingml/2006/main">
            <a:r>
              <a:t>        @contextmanager</a:t>
            </a:r>
          </a:p>
          <a:p xmlns:a="http://schemas.openxmlformats.org/drawingml/2006/main">
            <a:r>
              <a:t>        def transaction(self):</a:t>
            </a:r>
          </a:p>
          <a:p xmlns:a="http://schemas.openxmlformats.org/drawingml/2006/main">
            <a:r>
              <a:t>            with db.transaction() as connection:</a:t>
            </a:r>
          </a:p>
          <a:p xmlns:a="http://schemas.openxmlformats.org/drawingml/2006/main">
            <a:r>
              <a:t>                yield connection</a:t>
            </a:r>
          </a:p>
          <a:p xmlns:a="http://schemas.openxmlformats.org/drawingml/2006/main">
            <a:r>
              <a:t>                raise InjectedFailure('Synthetic failure before commit')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AssignmentService(FaultDatabase()).assign(incident_id,analyst_id,'SYNTHETIC rollback proof')</a:t>
            </a:r>
          </a:p>
          <a:p xmlns:a="http://schemas.openxmlformats.org/drawingml/2006/main">
            <a:r>
              <a:t>        raise AssertionError('Injected failure did not run')</a:t>
            </a:r>
          </a:p>
          <a:p xmlns:a="http://schemas.openxmlformats.org/drawingml/2006/main">
            <a:r>
              <a:t>    except InjectedFailure:pass</a:t>
            </a:r>
          </a:p>
          <a:p xmlns:a="http://schemas.openxmlformats.org/drawingml/2006/main">
            <a:r>
              <a:t>    state=query("SELECT status FROM incidents WHERE incident_id=%s",(incident_id,))[0]['status']</a:t>
            </a:r>
          </a:p>
          <a:p xmlns:a="http://schemas.openxmlformats.org/drawingml/2006/main">
            <a:r>
              <a:t>    assignments=query("SELECT COUNT(*) AS n FROM assignments WHERE incident_id=%s",(incident_id,))[0]['n']</a:t>
            </a:r>
          </a:p>
          <a:p xmlns:a="http://schemas.openxmlformats.org/drawingml/2006/main">
            <a:r>
              <a:t>    audits=query("SELECT COUNT(*) AS n FROM incident_audit_log WHERE incident_id=%s",(incident_id,))[0]['n']</a:t>
            </a:r>
          </a:p>
          <a:p xmlns:a="http://schemas.openxmlformats.org/drawingml/2006/main">
            <a:r>
              <a:t>    assert state=='open' and assignments==0 and audits==0</a:t>
            </a:r>
          </a:p>
          <a:p xmlns:a="http://schemas.openxmlformats.org/drawingml/2006/main">
            <a:r>
              <a:t>    result['checks']['atomicity']={'passed':True,'case_status':state,'assignments_after_rollback':assignments,'audits_after_rollback':audits}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# C: exercise database constraints directly, bypassing Python validation.</a:t>
            </a:r>
          </a:p>
          <a:p xmlns:a="http://schemas.openxmlformats.org/drawingml/2006/main">
            <a:r>
              <a:t>    invalid=[('check',"UPDATE incidents SET severity='invalid' WHERE incident_id=%s",(incident_id,),3819),</a:t>
            </a:r>
          </a:p>
          <a:p xmlns:a="http://schemas.openxmlformats.org/drawingml/2006/main">
            <a:r>
              <a:t>             ('foreign_key',"INSERT INTO assignments(incident_id,analyst_id) VALUES(%s,0)",(incident_id,),1452),</a:t>
            </a:r>
          </a:p>
          <a:p xmlns:a="http://schemas.openxmlformats.org/drawingml/2006/main">
            <a:r>
              <a:t>             ('unique',"""INSERT INTO incidents(category_id,incident_time,severity,description,detected_by,source_dataset,detection_key)</a:t>
            </a:r>
          </a:p>
          <a:p xmlns:a="http://schemas.openxmlformats.org/drawingml/2006/main">
            <a:r>
              <a:t>                 VALUES(%s,UTC_TIMESTAMP(6),'high','synthetic duplicate','synthetic_acid_proof',%s,%s)""",(category,source,key),1062)]</a:t>
            </a:r>
          </a:p>
          <a:p xmlns:a="http://schemas.openxmlformats.org/drawingml/2006/main">
            <a:r>
              <a:t>    codes={}</a:t>
            </a:r>
          </a:p>
          <a:p xmlns:a="http://schemas.openxmlformats.org/drawingml/2006/main">
            <a:r>
              <a:t>    for label,sql,params,expected in invalid: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with db.transaction() as connection:</a:t>
            </a:r>
          </a:p>
          <a:p xmlns:a="http://schemas.openxmlformats.org/drawingml/2006/main">
            <a:r>
              <a:t>                cursor=connection.cursor()</a:t>
            </a:r>
          </a:p>
          <a:p xmlns:a="http://schemas.openxmlformats.org/drawingml/2006/main">
            <a:r>
              <a:t>                try:cursor.execute(sql,params)</a:t>
            </a:r>
          </a:p>
          <a:p xmlns:a="http://schemas.openxmlformats.org/drawingml/2006/main">
            <a:r>
              <a:t>                finally:cursor.close()</a:t>
            </a:r>
          </a:p>
          <a:p xmlns:a="http://schemas.openxmlformats.org/drawingml/2006/main">
            <a:r>
              <a:t>            raise AssertionError('Constraint failed to reject '+label)</a:t>
            </a:r>
          </a:p>
          <a:p xmlns:a="http://schemas.openxmlformats.org/drawingml/2006/main">
            <a:r>
              <a:t>        except Error as error:</a:t>
            </a:r>
          </a:p>
          <a:p xmlns:a="http://schemas.openxmlformats.org/drawingml/2006/main">
            <a:r>
              <a:t>            assert error.errno in ({1216,1452} if label=='foreign_key' else {expected}),(label,error.errno)</a:t>
            </a:r>
          </a:p>
          <a:p xmlns:a="http://schemas.openxmlformats.org/drawingml/2006/main">
            <a:r>
              <a:t>            codes[label]=error.errno</a:t>
            </a:r>
          </a:p>
          <a:p xmlns:a="http://schemas.openxmlformats.org/drawingml/2006/main">
            <a:r>
              <a:t>    result['checks']['consistency']={'passed':True,'rejected_error_codes':codes}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# I: a second real connection cannot see uncommitted state or acquire its lock.</a:t>
            </a:r>
          </a:p>
          <a:p xmlns:a="http://schemas.openxmlformats.org/drawingml/2006/main">
            <a:r>
              <a:t>    with db.connection() as first,db.connection() as second:</a:t>
            </a:r>
          </a:p>
          <a:p xmlns:a="http://schemas.openxmlformats.org/drawingml/2006/main">
            <a:r>
              <a:t>        first.start_transaction();second.start_transaction()</a:t>
            </a:r>
          </a:p>
          <a:p xmlns:a="http://schemas.openxmlformats.org/drawingml/2006/main">
            <a:r>
              <a:t>        c1=first.cursor();c2=second.cursor()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c1.execute("UPDATE incidents SET status='assigned' WHERE incident_id=%s",(incident_id,))</a:t>
            </a:r>
          </a:p>
          <a:p xmlns:a="http://schemas.openxmlformats.org/drawingml/2006/main">
            <a:r>
              <a:t>            c2.execute("SELECT status FROM incidents WHERE incident_id=%s",(incident_id,))</a:t>
            </a:r>
          </a:p>
          <a:p xmlns:a="http://schemas.openxmlformats.org/drawingml/2006/main">
            <a:r>
              <a:t>            reader=c2.fetchone()[0]</a:t>
            </a:r>
          </a:p>
          <a:p xmlns:a="http://schemas.openxmlformats.org/drawingml/2006/main">
            <a:r>
              <a:t>            assert reader=='open'</a:t>
            </a:r>
          </a:p>
          <a:p xmlns:a="http://schemas.openxmlformats.org/drawingml/2006/main">
            <a:r>
              <a:t>            try:</a:t>
            </a:r>
          </a:p>
          <a:p xmlns:a="http://schemas.openxmlformats.org/drawingml/2006/main">
            <a:r>
              <a:t>                c2.execute("SELECT status FROM incidents WHERE incident_id=%s FOR UPDATE NOWAIT",(incident_id,))</a:t>
            </a:r>
          </a:p>
          <a:p xmlns:a="http://schemas.openxmlformats.org/drawingml/2006/main">
            <a:r>
              <a:t>                c2.fetchall()</a:t>
            </a:r>
          </a:p>
          <a:p xmlns:a="http://schemas.openxmlformats.org/drawingml/2006/main">
            <a:r>
              <a:t>                raise AssertionError('Second writer unexpectedly acquired lock')</a:t>
            </a:r>
          </a:p>
          <a:p xmlns:a="http://schemas.openxmlformats.org/drawingml/2006/main">
            <a:r>
              <a:t>            except Error as error:</a:t>
            </a:r>
          </a:p>
          <a:p xmlns:a="http://schemas.openxmlformats.org/drawingml/2006/main">
            <a:r>
              <a:t>                assert error.errno==3572,error.errno</a:t>
            </a:r>
          </a:p>
          <a:p xmlns:a="http://schemas.openxmlformats.org/drawingml/2006/main">
            <a:r>
              <a:t>                lock_code=error.errno</a:t>
            </a:r>
          </a:p>
          <a:p xmlns:a="http://schemas.openxmlformats.org/drawingml/2006/main">
            <a:r>
              <a:t>        finally:</a:t>
            </a:r>
          </a:p>
          <a:p xmlns:a="http://schemas.openxmlformats.org/drawingml/2006/main">
            <a:r>
              <a:t>            second.rollback();first.rollback();c1.close();c2.close()</a:t>
            </a:r>
          </a:p>
          <a:p xmlns:a="http://schemas.openxmlformats.org/drawingml/2006/main">
            <a:r>
              <a:t>    result['checks']['isolation']={'passed':True,'second_session_read':reader,'conflicting_lock_error':lock_code}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# D: commit through the actual service, close the connection, reconnect and read.</a:t>
            </a:r>
          </a:p>
          <a:p xmlns:a="http://schemas.openxmlformats.org/drawingml/2006/main">
            <a:r>
              <a:t>    assignment_id=AssignmentService(db).assign(incident_id,analyst_id,'SYNTHETIC commit proof')</a:t>
            </a:r>
          </a:p>
          <a:p xmlns:a="http://schemas.openxmlformats.org/drawingml/2006/main">
            <a:r>
              <a:t>    committed=query("SELECT status FROM incidents WHERE incident_id=%s",(incident_id,))[0]['status']</a:t>
            </a:r>
          </a:p>
          <a:p xmlns:a="http://schemas.openxmlformats.org/drawingml/2006/main">
            <a:r>
              <a:t>    assignment=query("SELECT COUNT(*) AS n FROM assignments WHERE incident_id=%s",(incident_id,))[0]['n']</a:t>
            </a:r>
          </a:p>
          <a:p xmlns:a="http://schemas.openxmlformats.org/drawingml/2006/main">
            <a:r>
              <a:t>    audit=query("SELECT COUNT(*) AS n FROM incident_audit_log WHERE incident_id=%s",(incident_id,))[0]['n']</a:t>
            </a:r>
          </a:p>
          <a:p xmlns:a="http://schemas.openxmlformats.org/drawingml/2006/main">
            <a:r>
              <a:t>    assert committed=='assigned' and assignment==1 and audit==1</a:t>
            </a:r>
          </a:p>
          <a:p xmlns:a="http://schemas.openxmlformats.org/drawingml/2006/main">
            <a:r>
              <a:t>    result['checks']['durability']={'passed':True,'new_connection_status':committed,'assignment_count':assignment,</a:t>
            </a:r>
          </a:p>
          <a:p xmlns:a="http://schemas.openxmlformats.org/drawingml/2006/main">
            <a:r>
              <a:t>        'audit_count':audit,'flush_at_commit':result['server']['flush_at_commit'],</a:t>
            </a:r>
          </a:p>
          <a:p xmlns:a="http://schemas.openxmlformats.org/drawingml/2006/main">
            <a:r>
              <a:t>        'limit':'Commit survives connection close and reopen. Crash/power-loss recovery was not tested.'}</a:t>
            </a:r>
          </a:p>
          <a:p xmlns:a="http://schemas.openxmlformats.org/drawingml/2006/main">
            <a:r>
              <a:t>    result['checks']['codd_evidence']={'pk_access':len(query("SELECT severity FROM incidents WHERE incident_id=%s",(incident_id,)))==1,</a:t>
            </a:r>
          </a:p>
          <a:p xmlns:a="http://schemas.openxmlformats.org/drawingml/2006/main">
            <a:r>
              <a:t>        'systematic_nulls':query("SELECT user_id IS NULL AS unknown_user,system_id IS NULL AS unknown_system FROM incidents WHERE incident_id=%s",(incident_id,))[0],</a:t>
            </a:r>
          </a:p>
          <a:p xmlns:a="http://schemas.openxmlformats.org/drawingml/2006/main">
            <a:r>
              <a:t>        'catalog_relations':len(engines),'constraints_independent_of_python':codes}</a:t>
            </a:r>
          </a:p>
          <a:p xmlns:a="http://schemas.openxmlformats.org/drawingml/2006/main">
            <a:r>
              <a:t>finally:</a:t>
            </a:r>
          </a:p>
          <a:p xmlns:a="http://schemas.openxmlformats.org/drawingml/2006/main">
            <a:r>
              <a:t>    if incident_id is not None or analyst_id is not None:</a:t>
            </a:r>
          </a:p>
          <a:p xmlns:a="http://schemas.openxmlformats.org/drawingml/2006/main">
            <a:r>
              <a:t>        with db.transaction() as connection:</a:t>
            </a:r>
          </a:p>
          <a:p xmlns:a="http://schemas.openxmlformats.org/drawingml/2006/main">
            <a:r>
              <a:t>            cursor=connection.cursor()</a:t>
            </a:r>
          </a:p>
          <a:p xmlns:a="http://schemas.openxmlformats.org/drawingml/2006/main">
            <a:r>
              <a:t>            if incident_id is not None:</a:t>
            </a:r>
          </a:p>
          <a:p xmlns:a="http://schemas.openxmlformats.org/drawingml/2006/main">
            <a:r>
              <a:t>                cursor.execute("DELETE FROM incidents WHERE incident_id=%s AND source_dataset=%s",(incident_id,source))</a:t>
            </a:r>
          </a:p>
          <a:p xmlns:a="http://schemas.openxmlformats.org/drawingml/2006/main">
            <a:r>
              <a:t>            if analyst_id is not None:</a:t>
            </a:r>
          </a:p>
          <a:p xmlns:a="http://schemas.openxmlformats.org/drawingml/2006/main">
            <a:r>
              <a:t>                cursor.execute("DELETE FROM analysts WHERE analyst_id=%s AND name=%s",(analyst_id,source))</a:t>
            </a:r>
          </a:p>
          <a:p xmlns:a="http://schemas.openxmlformats.org/drawingml/2006/main">
            <a:r>
              <a:t>            cursor.close()</a:t>
            </a:r>
          </a:p>
          <a:p xmlns:a="http://schemas.openxmlformats.org/drawingml/2006/main">
            <a:r>
              <a:t>    leftovers=query("SELECT COUNT(*) AS n FROM incidents WHERE source_dataset=%s",(source,))[0]['n']</a:t>
            </a:r>
          </a:p>
          <a:p xmlns:a="http://schemas.openxmlformats.org/drawingml/2006/main">
            <a:r>
              <a:t>    result['cleanup']={'synthetic_incidents_remaining':leftovers}</a:t>
            </a:r>
          </a:p>
          <a:p xmlns:a="http://schemas.openxmlformats.org/drawingml/2006/main">
            <a:r>
              <a:t>    assert leftovers==0</a:t>
            </a:r>
          </a:p>
          <a:p xmlns:a="http://schemas.openxmlformats.org/drawingml/2006/main">
            <a:r>
              <a:t>    (ROOT/'tmp/ppt_build/acid_evidence.json').write_text(json.dumps(result,indent=2,default=str))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print(json.dumps(result,indent=2,default=str))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analytics/sql_queries.py; analytics/mongo_aggregations.py; analytics/custom_queries.py; pages/6_Database_Explorer.py</a:t>
            </a:r>
          </a:p>
          <a:p xmlns:a="http://schemas.openxmlformats.org/drawingml/2006/main">
            <a:r>
              <a:t>Screenshot: tmp/report_build/queries.png. The SQL and MongoDB editors enforce source exclusion before aggregation, validate read-only scope and cap execution/results.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reports/verification.json; reports/response_integration.json; tests/test_custom_queries.py; tmp/ppt_build/acid_evidence.json</a:t>
            </a:r>
          </a:p>
          <a:p xmlns:a="http://schemas.openxmlformats.org/drawingml/2006/main">
            <a:r>
              <a:t>97 unit/UI checks and 2 live integration checks are saved pytest results. The separate ACID demonstration is not counted as additional pytest tests. UI tests use controlled doubles. No production authentication/RBAC layer is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etl/demo_data.py; pages/4_Data_Ingestion.py; tests/test_response_integration.py</a:t>
            </a:r>
          </a:p>
          <a:p xmlns:a="http://schemas.openxmlformats.org/drawingml/2006/main">
            <a:r>
              <a:t>Screenshot: tmp/report_build/pipeline.png. The built-in generator creates 12 explicitly synthetic authentication events: 5 failed logins, 3 successful origins, and a 4-failure negative control. Expected outcome is 2 alerts and 2 incidents. Verify the actual import summary during the live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docs/RUBRIC_MAPPING.md; supplied DCDSL evaluation rubric; report chapter 9</a:t>
            </a:r>
          </a:p>
          <a:p xmlns:a="http://schemas.openxmlformats.org/drawingml/2006/main">
            <a:r>
              <a:t>Rubric marks: 2 application, 2 Python, 2 SQL/NoSQL integration, 2 advanced retrieval, 1 quality/UI, 1 tests/validation. No grade is guaranteed. SDGs: https://sdgs.un.org/goals/goal9 and https://sdgs.un.org/goals/goal16. References for the deck also include scikit-learn RandomForestClassifier documentation https://scikit-learn.org/stable/modules/generated/sklearn.ensemble.RandomForestClassifier.html and Streamlit https://docs.streamlit.io/.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1dfae302a4c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22040bafc43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b286439a34e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64524ba0746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6d895e57d46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da9fcb32454c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D7BC44-C43B-4755-AD8D-ABC2AB5E97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222B2B-9E06-4608-846E-FEA727F422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E45772-6A44-4539-821E-BBD71D487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DB6398-D5CC-46A1-9A3D-BC5238D6D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BA304E-EA7A-4CB7-9D3A-2861E9CF7A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5B9A56-71F4-4EA8-AE69-35D826B390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B480CA-B8DA-4D75-9C0A-0BBAD216E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4009A9-0FC3-4E37-A989-DB7DDEF73D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5D2224-CCFC-466E-9C80-6D69142C8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28BCBE-DC6A-44C9-95ED-F0598AB373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29212ffeb54237" /><Relationship Type="http://schemas.openxmlformats.org/officeDocument/2006/relationships/slideLayout" Target="/ppt/slideLayouts/slideLayout1.xml" Id="R86ea97ce09a640ca" /><Relationship Type="http://schemas.openxmlformats.org/officeDocument/2006/relationships/slideLayout" Target="/ppt/slideLayouts/slideLayout2.xml" Id="R7c4e45dcb2d7400b" /><Relationship Type="http://schemas.openxmlformats.org/officeDocument/2006/relationships/slideLayout" Target="/ppt/slideLayouts/slideLayout3.xml" Id="R1bc11da2af2449aa" /><Relationship Type="http://schemas.openxmlformats.org/officeDocument/2006/relationships/slideLayout" Target="/ppt/slideLayouts/slideLayout4.xml" Id="R303f0681dac24d91" /><Relationship Type="http://schemas.openxmlformats.org/officeDocument/2006/relationships/slideLayout" Target="/ppt/slideLayouts/slideLayout5.xml" Id="R1c619ec60ea64537" /><Relationship Type="http://schemas.openxmlformats.org/officeDocument/2006/relationships/slideLayout" Target="/ppt/slideLayouts/slideLayout6.xml" Id="Ra66c9a5060f746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ea97ce09a640ca"/>
    <p:sldLayoutId xmlns:r="http://schemas.openxmlformats.org/officeDocument/2006/relationships" id="2147483650" r:id="R7c4e45dcb2d7400b"/>
    <p:sldLayoutId xmlns:r="http://schemas.openxmlformats.org/officeDocument/2006/relationships" id="2147483651" r:id="R1bc11da2af2449aa"/>
    <p:sldLayoutId xmlns:r="http://schemas.openxmlformats.org/officeDocument/2006/relationships" id="2147483652" r:id="R303f0681dac24d91"/>
    <p:sldLayoutId xmlns:r="http://schemas.openxmlformats.org/officeDocument/2006/relationships" id="2147483653" r:id="R1c619ec60ea64537"/>
    <p:sldLayoutId xmlns:r="http://schemas.openxmlformats.org/officeDocument/2006/relationships" id="2147483654" r:id="Ra66c9a5060f746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13f11f4ef4c74" /><Relationship Type="http://schemas.openxmlformats.org/officeDocument/2006/relationships/notesSlide" Target="/ppt/notesSlides/notesSlide1.xml" Id="R8ffa3ca56b5248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2650e3638473b" /><Relationship Type="http://schemas.openxmlformats.org/officeDocument/2006/relationships/notesSlide" Target="/ppt/notesSlides/notesSlide2.xml" Id="R5da02a3b037f49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83d9e9a8042bf" /><Relationship Type="http://schemas.openxmlformats.org/officeDocument/2006/relationships/notesSlide" Target="/ppt/notesSlides/notesSlide3.xml" Id="R9740c736db9348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1c0299b1c54627" /><Relationship Type="http://schemas.openxmlformats.org/officeDocument/2006/relationships/notesSlide" Target="/ppt/notesSlides/notesSlide4.xml" Id="Rbe212a8c8f0747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96549ccd2465c" /><Relationship Type="http://schemas.openxmlformats.org/officeDocument/2006/relationships/notesSlide" Target="/ppt/notesSlides/notesSlide5.xml" Id="R8cbaf7fe20cf4f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7097de96346ee" /><Relationship Type="http://schemas.openxmlformats.org/officeDocument/2006/relationships/notesSlide" Target="/ppt/notesSlides/notesSlide6.xml" Id="R1606626937be43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c4d9802824df5" /><Relationship Type="http://schemas.openxmlformats.org/officeDocument/2006/relationships/notesSlide" Target="/ppt/notesSlides/notesSlide7.xml" Id="R5c1ced9f746a4e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eb32374f74be0" /><Relationship Type="http://schemas.openxmlformats.org/officeDocument/2006/relationships/notesSlide" Target="/ppt/notesSlides/notesSlide8.xml" Id="Rd6ca7252067346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715fe1ad544166" /><Relationship Type="http://schemas.openxmlformats.org/officeDocument/2006/relationships/chart" Target="/ppt/slides/charts/chart1.xml" Id="R193730a976124c23" /><Relationship Type="http://schemas.openxmlformats.org/officeDocument/2006/relationships/notesSlide" Target="/ppt/notesSlides/notesSlide9.xml" Id="R93c2c605acee46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0e204ac194a69" /><Relationship Type="http://schemas.openxmlformats.org/officeDocument/2006/relationships/image" Target="/ppt/media/image.jpeg" Id="Red14d0572b104359" /><Relationship Type="http://schemas.openxmlformats.org/officeDocument/2006/relationships/notesSlide" Target="/ppt/notesSlides/notesSlide10.xml" Id="R26af46a9bff240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760c9d933b4c4e" /><Relationship Type="http://schemas.openxmlformats.org/officeDocument/2006/relationships/notesSlide" Target="/ppt/notesSlides/notesSlide11.xml" Id="R5021aeefad1144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783dde696f4995" /><Relationship Type="http://schemas.openxmlformats.org/officeDocument/2006/relationships/image" Target="/ppt/media/image2.jpeg" Id="Rbdbc0fade51a48c4" /><Relationship Type="http://schemas.openxmlformats.org/officeDocument/2006/relationships/notesSlide" Target="/ppt/notesSlides/notesSlide12.xml" Id="R73d64f57756548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b43adb0e2b49b0" /><Relationship Type="http://schemas.openxmlformats.org/officeDocument/2006/relationships/notesSlide" Target="/ppt/notesSlides/notesSlide13.xml" Id="Rd2e0f4bb440b4c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2eba2c18140fb" /><Relationship Type="http://schemas.openxmlformats.org/officeDocument/2006/relationships/image" Target="/ppt/media/image3.jpeg" Id="R836b4f88e83049a9" /><Relationship Type="http://schemas.openxmlformats.org/officeDocument/2006/relationships/notesSlide" Target="/ppt/notesSlides/notesSlide14.xml" Id="R90c13b7204cb40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d8abe05294d00" /><Relationship Type="http://schemas.openxmlformats.org/officeDocument/2006/relationships/notesSlide" Target="/ppt/notesSlides/notesSlide15.xml" Id="R40037ed6457a458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</c:v>
          </c:tx>
          <c:spPr>
            <a:solidFill xmlns:a="http://schemas.openxmlformats.org/drawingml/2006/main">
              <a:srgbClr val="34796C"/>
            </a:solidFill>
          </c:spPr>
          <c:invertIfNegative val="0"/>
          <c:cat>
            <c:strLit>
              <c:ptCount val="2"/>
              <c:pt idx="0">
                <c:v>Rule baseline</c:v>
              </c:pt>
              <c:pt idx="1">
                <c:v>Random forest</c:v>
              </c:pt>
            </c:strLit>
          </c:cat>
          <c:val>
            <c:numLit>
              <c:formatCode>0%</c:formatCode>
              <c:ptCount val="2"/>
              <c:pt idx="0">
                <c:v>0.1432192648922687</c:v>
              </c:pt>
              <c:pt idx="1">
                <c:v>0.9518377693282636</c:v>
              </c:pt>
            </c:numLit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475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6D0C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D0C8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E7EBE5"/>
        </a:solidFill>
      </c:spPr>
    </c:plotArea>
    <c:plotVisOnly val="1"/>
  </c:chart>
  <c:spPr>
    <a:solidFill xmlns:a="http://schemas.openxmlformats.org/drawingml/2006/main">
      <a:srgbClr val="E7EBE5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5517353-5982-4B24-A6A8-3A0AD74D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Cybersecurity Incident Monitoring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5E0A9E2-D33F-4C6F-8D3C-0EABA7E3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F006A50D-1580-4692-8108-E23DA12A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DCDSL project presentation</a:t>
            </a:r>
          </a:p>
        </p:txBody>
      </p:sp>
      <p:sp>
        <p:nvSpPr>
          <p:cNvPr id="5" name="and Threat Analytics Dashboard">
            <a:extLst xmlns:a="http://schemas.openxmlformats.org/drawingml/2006/main">
              <a:ext uri="{FF2B5EF4-FFF2-40B4-BE49-F238E27FC236}">
                <a16:creationId xmlns:a16="http://schemas.microsoft.com/office/drawing/2014/main" id="{D90FF2DD-F534-4581-96ED-97AEA594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619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and Threat Analytics Dashboard</a:t>
            </a:r>
          </a:p>
        </p:txBody>
      </p:sp>
      <p:sp>
        <p:nvSpPr>
          <p:cNvPr id="6" name="A database-driven mini Security Operations Cente">
            <a:extLst xmlns:a="http://schemas.openxmlformats.org/drawingml/2006/main">
              <a:ext uri="{FF2B5EF4-FFF2-40B4-BE49-F238E27FC236}">
                <a16:creationId xmlns:a16="http://schemas.microsoft.com/office/drawing/2014/main" id="{D64D6FF2-2F13-467C-A3F7-5D7F20E0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533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A database-driven mini Security Operations Center</a:t>
            </a:r>
          </a:p>
        </p:txBody>
      </p:sp>
      <p:sp>
        <p:nvSpPr>
          <p:cNvPr id="7" name="Python  /  MySQL  /  MongoDB  /  Streamlit">
            <a:extLst xmlns:a="http://schemas.openxmlformats.org/drawingml/2006/main">
              <a:ext uri="{FF2B5EF4-FFF2-40B4-BE49-F238E27FC236}">
                <a16:creationId xmlns:a16="http://schemas.microsoft.com/office/drawing/2014/main" id="{273C65C2-E669-4691-94F2-335BA8B8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Python  /  MySQL  /  MongoDB  /  Streamlit</a:t>
            </a:r>
          </a:p>
        </p:txBody>
      </p:sp>
      <p:sp>
        <p:nvSpPr>
          <p:cNvPr id="8" name="Adwaiy Gupta     25070126018&#10;Aashi Agrawala   25">
            <a:extLst xmlns:a="http://schemas.openxmlformats.org/drawingml/2006/main">
              <a:ext uri="{FF2B5EF4-FFF2-40B4-BE49-F238E27FC236}">
                <a16:creationId xmlns:a16="http://schemas.microsoft.com/office/drawing/2014/main" id="{B14C4425-53A0-4CB1-938B-CA8DE5A4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191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Adwaiy Gupta     25070126018</a:t>
            </a:r>
          </a:p>
          <a:p xmlns:a="http://schemas.openxmlformats.org/drawingml/2006/main">
            <a: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Aashi Agrawala   25070126003</a:t>
            </a:r>
          </a:p>
          <a:p xmlns:a="http://schemas.openxmlformats.org/drawingml/2006/main">
            <a: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Adrika Gupta     25070126016</a:t>
            </a:r>
          </a:p>
          <a:p xmlns:a="http://schemas.openxmlformats.org/drawingml/2006/main">
            <a: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Aditi Chitnis       25070126012</a:t>
            </a:r>
          </a:p>
        </p:txBody>
      </p:sp>
      <p:sp>
        <p:nvSpPr>
          <p:cNvPr id="9" name="Symbiosis Institute of Technology, Pune&#10;Departme">
            <a:extLst xmlns:a="http://schemas.openxmlformats.org/drawingml/2006/main">
              <a:ext uri="{FF2B5EF4-FFF2-40B4-BE49-F238E27FC236}">
                <a16:creationId xmlns:a16="http://schemas.microsoft.com/office/drawing/2014/main" id="{79F494C6-A5D5-4738-B065-D6D11046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72525"/>
            <a:ext cx="1571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Symbiosis Institute of Technology, Pune</a:t>
            </a:r>
          </a:p>
          <a:p xmlns:a="http://schemas.openxmlformats.org/drawingml/2006/main">
            <a:pPr algn="l">
              <a:defRPr sz="20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Department of Artificial Intelligence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662338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7622E1E-7E71-4B31-A145-738AFAED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The cyber office problem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6C09277-39BA-4518-9EC6-0CB97E5C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EBCCD7C9-9791-470B-AD61-9120DDF5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Illustrative office scenario</a:t>
            </a:r>
          </a:p>
        </p:txBody>
      </p:sp>
      <p:sp>
        <p:nvSpPr>
          <p:cNvPr id="5" name="Two log exports arrive at the start of a shift.">
            <a:extLst xmlns:a="http://schemas.openxmlformats.org/drawingml/2006/main">
              <a:ext uri="{FF2B5EF4-FFF2-40B4-BE49-F238E27FC236}">
                <a16:creationId xmlns:a16="http://schemas.microsoft.com/office/drawing/2014/main" id="{B4AD0DC9-B71E-48A2-A88C-F0358C60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1647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Two log exports arrive at the start of a shift.</a:t>
            </a:r>
          </a:p>
        </p:txBody>
      </p:sp>
      <p:sp>
        <p:nvSpPr>
          <p:cNvPr id="6" name="Scattered evidence">
            <a:extLst xmlns:a="http://schemas.openxmlformats.org/drawingml/2006/main">
              <a:ext uri="{FF2B5EF4-FFF2-40B4-BE49-F238E27FC236}">
                <a16:creationId xmlns:a16="http://schemas.microsoft.com/office/drawing/2014/main" id="{E3CDAB5B-74C4-4294-A4E5-E61EAB5E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Scattered evidence</a:t>
            </a:r>
          </a:p>
        </p:txBody>
      </p:sp>
      <p:sp>
        <p:nvSpPr>
          <p:cNvPr id="7" name="Login failures and network flows sit in separate">
            <a:extLst xmlns:a="http://schemas.openxmlformats.org/drawingml/2006/main">
              <a:ext uri="{FF2B5EF4-FFF2-40B4-BE49-F238E27FC236}">
                <a16:creationId xmlns:a16="http://schemas.microsoft.com/office/drawing/2014/main" id="{97B3A482-7D0B-4966-B3AE-648A94B0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762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Login failures and network flows sit in separate CSVs. Analysts search and copy records manually.</a:t>
            </a:r>
          </a:p>
        </p:txBody>
      </p:sp>
      <p:sp>
        <p:nvSpPr>
          <p:cNvPr id="8" name="Unclear ownership">
            <a:extLst xmlns:a="http://schemas.openxmlformats.org/drawingml/2006/main">
              <a:ext uri="{FF2B5EF4-FFF2-40B4-BE49-F238E27FC236}">
                <a16:creationId xmlns:a16="http://schemas.microsoft.com/office/drawing/2014/main" id="{53689ED5-1624-47DA-A7D2-DE38D230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242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Unclear ownership</a:t>
            </a:r>
          </a:p>
        </p:txBody>
      </p:sp>
      <p:sp>
        <p:nvSpPr>
          <p:cNvPr id="9" name="A suspicious event needs a case, an assigned ana">
            <a:extLst xmlns:a="http://schemas.openxmlformats.org/drawingml/2006/main">
              <a:ext uri="{FF2B5EF4-FFF2-40B4-BE49-F238E27FC236}">
                <a16:creationId xmlns:a16="http://schemas.microsoft.com/office/drawing/2014/main" id="{E7027ACE-A3C6-4C29-9F82-F8755939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52875"/>
            <a:ext cx="752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A suspicious event needs a case, an assigned analyst and a response history.</a:t>
            </a:r>
          </a:p>
        </p:txBody>
      </p:sp>
      <p:sp>
        <p:nvSpPr>
          <p:cNvPr id="10" name="Duplicate investigations">
            <a:extLst xmlns:a="http://schemas.openxmlformats.org/drawingml/2006/main">
              <a:ext uri="{FF2B5EF4-FFF2-40B4-BE49-F238E27FC236}">
                <a16:creationId xmlns:a16="http://schemas.microsoft.com/office/drawing/2014/main" id="{DC8ED942-6BC3-4FD5-A112-DA29C72F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245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Duplicate investigations</a:t>
            </a:r>
          </a:p>
        </p:txBody>
      </p:sp>
      <p:sp>
        <p:nvSpPr>
          <p:cNvPr id="11" name="Reimporting a file must not open the same incide">
            <a:extLst xmlns:a="http://schemas.openxmlformats.org/drawingml/2006/main">
              <a:ext uri="{FF2B5EF4-FFF2-40B4-BE49-F238E27FC236}">
                <a16:creationId xmlns:a16="http://schemas.microsoft.com/office/drawing/2014/main" id="{9D6F6F10-1001-4C4B-B2ED-851EBF8F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53225"/>
            <a:ext cx="762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Reimporting a file must not open the same incident again.</a:t>
            </a:r>
          </a:p>
        </p:txBody>
      </p:sp>
      <p:sp>
        <p:nvSpPr>
          <p:cNvPr id="12" name="The required outcome">
            <a:extLst xmlns:a="http://schemas.openxmlformats.org/drawingml/2006/main">
              <a:ext uri="{FF2B5EF4-FFF2-40B4-BE49-F238E27FC236}">
                <a16:creationId xmlns:a16="http://schemas.microsoft.com/office/drawing/2014/main" id="{B16F20D3-6D70-4667-AD80-BD9BB8A9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245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The required outcome</a:t>
            </a:r>
          </a:p>
        </p:txBody>
      </p:sp>
      <p:sp>
        <p:nvSpPr>
          <p:cNvPr id="13" name="One traceable path from a source event to an ale">
            <a:extLst xmlns:a="http://schemas.openxmlformats.org/drawingml/2006/main">
              <a:ext uri="{FF2B5EF4-FFF2-40B4-BE49-F238E27FC236}">
                <a16:creationId xmlns:a16="http://schemas.microsoft.com/office/drawing/2014/main" id="{D6FD4188-4A6C-4F77-B31F-4E0163B1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753225"/>
            <a:ext cx="752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One traceable path from a source event to an alert, incident and documented response.</a:t>
            </a:r>
          </a:p>
        </p:txBody>
      </p:sp>
    </p:spTree>
    <p:extLst>
      <p:ext uri="{BB962C8B-B14F-4D97-AF65-F5344CB8AC3E}">
        <p14:creationId xmlns:p14="http://schemas.microsoft.com/office/powerpoint/2010/main" val="1260467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189EAAC-433D-4222-BC48-D2D99AA0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Datasets and provenance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084707C-E7DB-4B0F-A4E3-A2DDBDEA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B1AF515A-9F85-4C67-B55E-C24071C5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Source: docs/DATA_DICTIONARY.md and supplied dataset archive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AF9A2-BC1F-43F2-9F7B-EB4239735C64}"/>
              </a:ext>
            </a:extLst>
          </p:cNvPr>
          <p:cNvGraphicFramePr/>
          <p:nvPr/>
        </p:nvGraphicFramePr>
        <p:xfrm>
          <a:off xmlns:a="http://schemas.openxmlformats.org/drawingml/2006/main" x="742950" y="2028825"/>
          <a:ext xmlns:a="http://schemas.openxmlformats.org/drawingml/2006/main" cx="16573500" cy="3028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72000"/>
                <a:gridCol w="1428750"/>
                <a:gridCol w="1524000"/>
                <a:gridCol w="9048750"/>
              </a:tblGrid>
              <a:tr h="100965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Supplied quickstart CSV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Fields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Main evidence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Authentication events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5,000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User, time, IP, device, login result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Network flows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4,444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Packets, bytes, protocol, timing and flow counts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</a:tbl>
          </a:graphicData>
        </a:graphic>
      </p:graphicFrame>
      <p:sp>
        <p:nvSpPr>
          <p:cNvPr id="6" name="Representative development data">
            <a:extLst xmlns:a="http://schemas.openxmlformats.org/drawingml/2006/main">
              <a:ext uri="{FF2B5EF4-FFF2-40B4-BE49-F238E27FC236}">
                <a16:creationId xmlns:a16="http://schemas.microsoft.com/office/drawing/2014/main" id="{B241EAFF-DDED-4E97-B3E4-C057800E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571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Representative development data</a:t>
            </a:r>
          </a:p>
        </p:txBody>
      </p:sp>
      <p:sp>
        <p:nvSpPr>
          <p:cNvPr id="7" name="The supplied files follow RBA and UNSW-NB15 fiel">
            <a:extLst xmlns:a="http://schemas.openxmlformats.org/drawingml/2006/main">
              <a:ext uri="{FF2B5EF4-FFF2-40B4-BE49-F238E27FC236}">
                <a16:creationId xmlns:a16="http://schemas.microsoft.com/office/drawing/2014/main" id="{CDA6E97F-02C5-4A8B-8902-F3E7F8F6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1600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The supplied files follow RBA and UNSW-NB15 field concepts. They are not verbatim official benchmark records.</a:t>
            </a:r>
          </a:p>
        </p:txBody>
      </p:sp>
      <p:sp>
        <p:nvSpPr>
          <p:cNvPr id="8" name="Authentication and network sources represent dif">
            <a:extLst xmlns:a="http://schemas.openxmlformats.org/drawingml/2006/main">
              <a:ext uri="{FF2B5EF4-FFF2-40B4-BE49-F238E27FC236}">
                <a16:creationId xmlns:a16="http://schemas.microsoft.com/office/drawing/2014/main" id="{7E3E9EF0-7BFB-4D4D-A289-68CD6AD0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58125"/>
            <a:ext cx="1600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8B4E30"/>
                </a:solidFill>
                <a:latin typeface="Arial"/>
                <a:ea typeface="Arial"/>
                <a:cs typeface="Arial"/>
              </a:rPr>
              <a:t>Authentication and network sources represent different environments. Matching IPs, users or times do not establish a shared organisation.</a:t>
            </a:r>
          </a:p>
        </p:txBody>
      </p:sp>
    </p:spTree>
    <p:extLst>
      <p:ext uri="{BB962C8B-B14F-4D97-AF65-F5344CB8AC3E}">
        <p14:creationId xmlns:p14="http://schemas.microsoft.com/office/powerpoint/2010/main" val="1388242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D2883D6-4D51-44D2-9C00-FBA9079C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System architecture and data flow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AB1452E-ED2F-4AA7-ABF7-40459534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34EEC5C9-642A-4E5D-9E14-CE032922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Source: etl/pipeline.py and database repositories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E944E-4393-43C1-91FE-170B380B4D57}"/>
              </a:ext>
            </a:extLst>
          </p:cNvPr>
          <p:cNvGraphicFramePr/>
          <p:nvPr/>
        </p:nvGraphicFramePr>
        <p:xfrm>
          <a:off xmlns:a="http://schemas.openxmlformats.org/drawingml/2006/main" x="742950" y="1857375"/>
          <a:ext xmlns:a="http://schemas.openxmlformats.org/drawingml/2006/main" cx="16573500" cy="638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6572250"/>
                <a:gridCol w="6762750"/>
              </a:tblGrid>
              <a:tr h="911679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Python responsibility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Persistent result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</a:tr>
              <a:tr h="911679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1  Validate CSV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Detect schema, check identifiers and timestamps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Validated rows with source provenance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911679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2  Store evidence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Normalise UTC times and preserve source fields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MongoDB security_events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911679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3  Run detection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Authentication rules and network model inference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Standardised Python alerts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911679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4  Persist alerts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Upsert by detection key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MongoDB security_alerts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911679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5  Create cases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Map category and deduplicate incidents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MySQL incidents and audit entries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911679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6  Respond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Assign, investigate, record actions and resolve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MySQL assignments and case history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</a:tbl>
          </a:graphicData>
        </a:graphic>
      </p:graphicFrame>
      <p:sp>
        <p:nvSpPr>
          <p:cNvPr id="6" name="Streamlit reads both databases. detection_key, s">
            <a:extLst xmlns:a="http://schemas.openxmlformats.org/drawingml/2006/main">
              <a:ext uri="{FF2B5EF4-FFF2-40B4-BE49-F238E27FC236}">
                <a16:creationId xmlns:a16="http://schemas.microsoft.com/office/drawing/2014/main" id="{60AF79F8-A6FF-4858-82F3-E6873638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82025"/>
            <a:ext cx="16525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Streamlit reads both databases. detection_key, source_dataset and event references link the evidence.</a:t>
            </a:r>
          </a:p>
        </p:txBody>
      </p:sp>
    </p:spTree>
    <p:extLst>
      <p:ext uri="{BB962C8B-B14F-4D97-AF65-F5344CB8AC3E}">
        <p14:creationId xmlns:p14="http://schemas.microsoft.com/office/powerpoint/2010/main" val="2018976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8575E37-6C8E-4407-B722-5978B22A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Why MySQL and MongoDB work together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025E3F3-47B3-48F6-AC07-85833920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0E0116B1-420B-46B3-B44E-AAAAA5D2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Source: schema.sql, mongo_connection.py and repository code</a:t>
            </a:r>
          </a:p>
        </p:txBody>
      </p:sp>
      <p:sp>
        <p:nvSpPr>
          <p:cNvPr id="5" name="MySQL">
            <a:extLst xmlns:a="http://schemas.openxmlformats.org/drawingml/2006/main">
              <a:ext uri="{FF2B5EF4-FFF2-40B4-BE49-F238E27FC236}">
                <a16:creationId xmlns:a16="http://schemas.microsoft.com/office/drawing/2014/main" id="{3F25FAAD-C215-4973-A0BD-3717E67B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97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6" name="Stable operational records&#10;&#10;Users, systems, inci">
            <a:extLst xmlns:a="http://schemas.openxmlformats.org/drawingml/2006/main">
              <a:ext uri="{FF2B5EF4-FFF2-40B4-BE49-F238E27FC236}">
                <a16:creationId xmlns:a16="http://schemas.microsoft.com/office/drawing/2014/main" id="{ED6BABA9-8C1A-46F8-98A5-1FF407A0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75247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Stable operational records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Users, systems, incidents and assignments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Foreign keys and integrity constraints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Transactions for case and audit updates</a:t>
            </a:r>
          </a:p>
        </p:txBody>
      </p:sp>
      <p:sp>
        <p:nvSpPr>
          <p:cNvPr id="7" name="MongoDB">
            <a:extLst xmlns:a="http://schemas.openxmlformats.org/drawingml/2006/main">
              <a:ext uri="{FF2B5EF4-FFF2-40B4-BE49-F238E27FC236}">
                <a16:creationId xmlns:a16="http://schemas.microsoft.com/office/drawing/2014/main" id="{D8842C3C-CCFC-448D-99B1-748DE6A5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97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8" name="Variable security evidence&#10;&#10;Raw rows and normali">
            <a:extLst xmlns:a="http://schemas.openxmlformats.org/drawingml/2006/main">
              <a:ext uri="{FF2B5EF4-FFF2-40B4-BE49-F238E27FC236}">
                <a16:creationId xmlns:a16="http://schemas.microsoft.com/office/drawing/2014/main" id="{772EEC4D-F3CF-41C5-BC75-FC62A40F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57525"/>
            <a:ext cx="75247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Variable security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Raw rows and normalised event envelopes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Nested alert evidence and event references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Per-file import history and aggregations</a:t>
            </a:r>
          </a:p>
        </p:txBody>
      </p:sp>
      <p:sp>
        <p:nvSpPr>
          <p:cNvPr id="9" name="Trade-off: flexible evidence storage adds cross-">
            <a:extLst xmlns:a="http://schemas.openxmlformats.org/drawingml/2006/main">
              <a:ext uri="{FF2B5EF4-FFF2-40B4-BE49-F238E27FC236}">
                <a16:creationId xmlns:a16="http://schemas.microsoft.com/office/drawing/2014/main" id="{5EF8EEE7-0214-4721-90C1-5ADBDDDF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01075"/>
            <a:ext cx="16621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8B4E30"/>
                </a:solidFill>
                <a:latin typeface="Arial"/>
                <a:ea typeface="Arial"/>
                <a:cs typeface="Arial"/>
              </a:rPr>
              <a:t>Trade-off: flexible evidence storage adds cross-store consistency work. There is no distributed commit.</a:t>
            </a:r>
          </a:p>
        </p:txBody>
      </p:sp>
    </p:spTree>
    <p:extLst>
      <p:ext uri="{BB962C8B-B14F-4D97-AF65-F5344CB8AC3E}">
        <p14:creationId xmlns:p14="http://schemas.microsoft.com/office/powerpoint/2010/main" val="7306452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AC84F42-8892-4870-952F-47083A3A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Relational schema and integrity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B425A07-975C-4DF2-A220-EAAB8B10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6688D61B-3757-4592-BBB5-2FC69598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Source: database/schema.sql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3559A-94EE-4C69-8E74-F63E8A4A6AF0}"/>
              </a:ext>
            </a:extLst>
          </p:cNvPr>
          <p:cNvGraphicFramePr/>
          <p:nvPr/>
        </p:nvGraphicFramePr>
        <p:xfrm>
          <a:off xmlns:a="http://schemas.openxmlformats.org/drawingml/2006/main" x="742950" y="1924050"/>
          <a:ext xmlns:a="http://schemas.openxmlformats.org/drawingml/2006/main" cx="16573500" cy="6324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286250"/>
                <a:gridCol w="3143250"/>
                <a:gridCol w="9144000"/>
              </a:tblGrid>
              <a:tr h="79057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Table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Primary key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Relationship or integrity rule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users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user_id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Unique source and external user ID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systems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system_id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Optional owner FK and source-local endpoint ID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analysts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analyst_id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Active analyst flag and team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threat_categories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category_id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Unique category name and valid severity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incidents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incident_id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Nullable user/system FKs and unique detection_key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assignments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assignment_id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Incident and analyst FKs with response history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incident_audit_log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audit_id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Incident FK and chronological case actions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</a:tbl>
          </a:graphicData>
        </a:graphic>
      </p:graphicFrame>
      <p:sp>
        <p:nvSpPr>
          <p:cNvPr id="6" name="The design separates reusable entities and respo">
            <a:extLst xmlns:a="http://schemas.openxmlformats.org/drawingml/2006/main">
              <a:ext uri="{FF2B5EF4-FFF2-40B4-BE49-F238E27FC236}">
                <a16:creationId xmlns:a16="http://schemas.microsoft.com/office/drawing/2014/main" id="{E62CFE24-8966-4188-A150-57802E2A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10600"/>
            <a:ext cx="1638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The design separates reusable entities and response history. A network endpoint is observed context, not confirmed internal ownership.</a:t>
            </a:r>
          </a:p>
        </p:txBody>
      </p:sp>
    </p:spTree>
    <p:extLst>
      <p:ext uri="{BB962C8B-B14F-4D97-AF65-F5344CB8AC3E}">
        <p14:creationId xmlns:p14="http://schemas.microsoft.com/office/powerpoint/2010/main" val="1174779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8A95C5C-06E7-43FE-9315-F73C740D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MongoDB documents and file tracking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8C245DF-A1E2-4A44-8A24-B0113B14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77ED6CA4-D972-4343-91AD-73CF8E72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Source: etl/models.py, upload_history.py and existing_sources.py</a:t>
            </a:r>
          </a:p>
        </p:txBody>
      </p:sp>
      <p:sp>
        <p:nvSpPr>
          <p:cNvPr id="5" name="Synthetic event envelope">
            <a:extLst xmlns:a="http://schemas.openxmlformats.org/drawingml/2006/main">
              <a:ext uri="{FF2B5EF4-FFF2-40B4-BE49-F238E27FC236}">
                <a16:creationId xmlns:a16="http://schemas.microsoft.com/office/drawing/2014/main" id="{D68D6FB9-326E-4E42-9AAE-8D63A55A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Synthetic event envelope</a:t>
            </a:r>
          </a:p>
        </p:txBody>
      </p:sp>
      <p:sp>
        <p:nvSpPr>
          <p:cNvPr id="6" name="{&#10;  &quot;event_id&quot;: &quot;SYN-DEMO-1&quot;,&#10;  &quot;timestamp&quot;: &quot;20">
            <a:extLst xmlns:a="http://schemas.openxmlformats.org/drawingml/2006/main">
              <a:ext uri="{FF2B5EF4-FFF2-40B4-BE49-F238E27FC236}">
                <a16:creationId xmlns:a16="http://schemas.microsoft.com/office/drawing/2014/main" id="{1677B5DF-56BF-4D96-9245-F0D296C7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8858250" cy="542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  "event_id": "SYN-DEMO-1",</a:t>
            </a:r>
          </a:p>
          <a:p xmlns:a="http://schemas.openxmlformats.org/drawingml/2006/main">
            <a: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  "timestamp": "2026-10-24T09:00:00Z",</a:t>
            </a:r>
          </a:p>
          <a:p xmlns:a="http://schemas.openxmlformats.org/drawingml/2006/main">
            <a: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  "source_dataset": "synthetic_demo",</a:t>
            </a:r>
          </a:p>
          <a:p xmlns:a="http://schemas.openxmlformats.org/drawingml/2006/main">
            <a: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  "event_type": "authentication",</a:t>
            </a:r>
          </a:p>
          <a:p xmlns:a="http://schemas.openxmlformats.org/drawingml/2006/main">
            <a: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  "user_id": "SYN-USER",</a:t>
            </a:r>
          </a:p>
          <a:p xmlns:a="http://schemas.openxmlformats.org/drawingml/2006/main">
            <a: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  "authentication_result": "failure",</a:t>
            </a:r>
          </a:p>
          <a:p xmlns:a="http://schemas.openxmlformats.org/drawingml/2006/main">
            <a: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  "raw_event": { ... },</a:t>
            </a:r>
          </a:p>
          <a:p xmlns:a="http://schemas.openxmlformats.org/drawingml/2006/main">
            <a: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  "original_labels": { ... }</a:t>
            </a:r>
          </a:p>
          <a:p xmlns:a="http://schemas.openxmlformats.org/drawingml/2006/main">
            <a:pPr algn="l">
              <a:defRPr sz="21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7" name="Events and alerts">
            <a:extLst xmlns:a="http://schemas.openxmlformats.org/drawingml/2006/main">
              <a:ext uri="{FF2B5EF4-FFF2-40B4-BE49-F238E27FC236}">
                <a16:creationId xmlns:a16="http://schemas.microsoft.com/office/drawing/2014/main" id="{6400C4F9-E13D-4F31-A562-A33BE1B0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4787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Events and alerts</a:t>
            </a:r>
          </a:p>
        </p:txBody>
      </p:sp>
      <p:sp>
        <p:nvSpPr>
          <p:cNvPr id="8" name="security_events preserves raw context. security_">
            <a:extLst xmlns:a="http://schemas.openxmlformats.org/drawingml/2006/main">
              <a:ext uri="{FF2B5EF4-FFF2-40B4-BE49-F238E27FC236}">
                <a16:creationId xmlns:a16="http://schemas.microsoft.com/office/drawing/2014/main" id="{3603FAA5-1DCD-4183-8B4E-0F016B65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76525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security_events preserves raw context. security_alerts stores generated evidence separately.</a:t>
            </a:r>
          </a:p>
        </p:txBody>
      </p:sp>
      <p:sp>
        <p:nvSpPr>
          <p:cNvPr id="9" name="Upload registry">
            <a:extLst xmlns:a="http://schemas.openxmlformats.org/drawingml/2006/main">
              <a:ext uri="{FF2B5EF4-FFF2-40B4-BE49-F238E27FC236}">
                <a16:creationId xmlns:a16="http://schemas.microsoft.com/office/drawing/2014/main" id="{9232B959-5DFB-44E6-8B11-0823E9F9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0057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Upload registry</a:t>
            </a:r>
          </a:p>
        </p:txBody>
      </p:sp>
      <p:sp>
        <p:nvSpPr>
          <p:cNvPr id="10" name="Filename plus SHA-256 identifies a file. ingesti">
            <a:extLst xmlns:a="http://schemas.openxmlformats.org/drawingml/2006/main">
              <a:ext uri="{FF2B5EF4-FFF2-40B4-BE49-F238E27FC236}">
                <a16:creationId xmlns:a16="http://schemas.microsoft.com/office/drawing/2014/main" id="{3558AB4B-2257-4BF9-B14F-95A278A2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29225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Filename plus SHA-256 identifies a file. ingestion_runs stores each attempt and its outcome.</a:t>
            </a:r>
          </a:p>
        </p:txBody>
      </p:sp>
      <p:sp>
        <p:nvSpPr>
          <p:cNvPr id="11" name="Source inclusion">
            <a:extLst xmlns:a="http://schemas.openxmlformats.org/drawingml/2006/main">
              <a:ext uri="{FF2B5EF4-FFF2-40B4-BE49-F238E27FC236}">
                <a16:creationId xmlns:a16="http://schemas.microsoft.com/office/drawing/2014/main" id="{8158A6B6-9A61-4C17-BEB0-04893944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5327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Source inclusion</a:t>
            </a:r>
          </a:p>
        </p:txBody>
      </p:sp>
      <p:sp>
        <p:nvSpPr>
          <p:cNvPr id="12" name="Exclude any legacy source or new CSV from charts">
            <a:extLst xmlns:a="http://schemas.openxmlformats.org/drawingml/2006/main">
              <a:ext uri="{FF2B5EF4-FFF2-40B4-BE49-F238E27FC236}">
                <a16:creationId xmlns:a16="http://schemas.microsoft.com/office/drawing/2014/main" id="{ABA68051-F298-44F3-90CE-94B7DC38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781925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Exclude any legacy source or new CSV from charts and queries. Stored records remain intact.</a:t>
            </a:r>
          </a:p>
        </p:txBody>
      </p:sp>
    </p:spTree>
    <p:extLst>
      <p:ext uri="{BB962C8B-B14F-4D97-AF65-F5344CB8AC3E}">
        <p14:creationId xmlns:p14="http://schemas.microsoft.com/office/powerpoint/2010/main" val="370541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AF514F1-3A90-40CC-81B5-DF53B9DA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Detection logic and incident creation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81DA73E-D924-4601-AC46-F90F982B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E3EE0A1D-D9B6-4965-9DC8-BFA0EC8A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Source: detection modules and IncidentService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22A8B-781C-4E91-BFBA-CA1E8D948F4A}"/>
              </a:ext>
            </a:extLst>
          </p:cNvPr>
          <p:cNvGraphicFramePr/>
          <p:nvPr/>
        </p:nvGraphicFramePr>
        <p:xfrm>
          <a:off xmlns:a="http://schemas.openxmlformats.org/drawingml/2006/main" x="742950" y="2047875"/>
          <a:ext xmlns:a="http://schemas.openxmlformats.org/drawingml/2006/main" cx="16573500" cy="4124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91000"/>
                <a:gridCol w="6572250"/>
                <a:gridCol w="5810250"/>
              </a:tblGrid>
              <a:tr h="1031081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Detector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Default condition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Alert evidence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</a:tr>
              <a:tr h="1031081"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Repeated login failures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At least 5 failures in 5 minutes for one source-local user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High severity with the triggering events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1031081"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Suspicious access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3 IP/device combinations in 10 minutes of successful logins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Medium severity with origin and time context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1031081"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Network classifier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Random forest score at or above 0.88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Model version, probability and flow values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</a:tbl>
          </a:graphicData>
        </a:graphic>
      </p:graphicFrame>
      <p:sp>
        <p:nvSpPr>
          <p:cNvPr id="6" name="Every alert carries a stable detection key.">
            <a:extLst xmlns:a="http://schemas.openxmlformats.org/drawingml/2006/main">
              <a:ext uri="{FF2B5EF4-FFF2-40B4-BE49-F238E27FC236}">
                <a16:creationId xmlns:a16="http://schemas.microsoft.com/office/drawing/2014/main" id="{1BCD1BFE-A4A3-4DCB-9923-52DA6FBF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00850"/>
            <a:ext cx="1638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Every alert carries a stable detection key.</a:t>
            </a:r>
          </a:p>
        </p:txBody>
      </p:sp>
      <p:sp>
        <p:nvSpPr>
          <p:cNvPr id="7" name="MongoDB and MySQL unique keys prevent repeat imp">
            <a:extLst xmlns:a="http://schemas.openxmlformats.org/drawingml/2006/main">
              <a:ext uri="{FF2B5EF4-FFF2-40B4-BE49-F238E27FC236}">
                <a16:creationId xmlns:a16="http://schemas.microsoft.com/office/drawing/2014/main" id="{7B38BFA0-E202-4531-87C0-554D8508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96200"/>
            <a:ext cx="1628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MongoDB and MySQL unique keys prevent repeat imports from creating duplicate alerts or cases. Dataset labels support evaluation rather than triggering detections.</a:t>
            </a:r>
          </a:p>
        </p:txBody>
      </p:sp>
    </p:spTree>
    <p:extLst>
      <p:ext uri="{BB962C8B-B14F-4D97-AF65-F5344CB8AC3E}">
        <p14:creationId xmlns:p14="http://schemas.microsoft.com/office/powerpoint/2010/main" val="18299096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72D407B-08DA-4985-A3F0-A5B54C0C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Network recall improves on the supplied test split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BA7C334-6557-4E5E-B722-C0793538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913FA26C-1EEB-4A91-9488-8B4D3BE6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Source: models/network_classifier_metrics.json</a:t>
            </a:r>
          </a:p>
        </p:txBody>
      </p:sp>
      <p:sp>
        <p:nvSpPr>
          <p:cNvPr id="5" name="Recall on 889 held-out rows">
            <a:extLst xmlns:a="http://schemas.openxmlformats.org/drawingml/2006/main">
              <a:ext uri="{FF2B5EF4-FFF2-40B4-BE49-F238E27FC236}">
                <a16:creationId xmlns:a16="http://schemas.microsoft.com/office/drawing/2014/main" id="{E9ECA068-AAB9-408A-9B08-51827C1A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Recall on 889 held-out rows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54889A8-F49B-4FFD-8B5F-57DEFAC32374}"/>
              </a:ext>
            </a:extLst>
          </p:cNvPr>
          <p:cNvGraphicFramePr/>
          <p:nvPr/>
        </p:nvGraphicFramePr>
        <p:xfrm>
          <a:off xmlns:a="http://schemas.openxmlformats.org/drawingml/2006/main" x="742950" y="2762250"/>
          <a:ext xmlns:a="http://schemas.openxmlformats.org/drawingml/2006/main" cx="9239250" cy="5286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3730a976124c23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CF4E6-F375-4562-A7AC-511317FA8C77}"/>
              </a:ext>
            </a:extLst>
          </p:cNvPr>
          <p:cNvGraphicFramePr/>
          <p:nvPr/>
        </p:nvGraphicFramePr>
        <p:xfrm>
          <a:off xmlns:a="http://schemas.openxmlformats.org/drawingml/2006/main" x="10572750" y="2552700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1666875"/>
                <a:gridCol w="1666875"/>
              </a:tblGrid>
              <a:tr h="7810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Test result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Rules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True positives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113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751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False negatives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676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False positives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True negatives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84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</a:tbl>
          </a:graphicData>
        </a:graphic>
      </p:graphicFrame>
      <p:sp>
        <p:nvSpPr>
          <p:cNvPr id="8" name="95.18% recall&#10;97.53% F1 score">
            <a:extLst xmlns:a="http://schemas.openxmlformats.org/drawingml/2006/main">
              <a:ext uri="{FF2B5EF4-FFF2-40B4-BE49-F238E27FC236}">
                <a16:creationId xmlns:a16="http://schemas.microsoft.com/office/drawing/2014/main" id="{BF15357B-03FD-4497-BF6C-3C377BF5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029450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95.18% recall</a:t>
            </a:r>
          </a:p>
          <a:p xmlns:a="http://schemas.openxmlformats.org/drawingml/2006/main">
            <a:pPr algn="l">
              <a:defRPr sz="30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97.53% F1 score</a:t>
            </a:r>
          </a:p>
        </p:txBody>
      </p:sp>
      <p:sp>
        <p:nvSpPr>
          <p:cNvPr id="9" name="38 attacks remain missed. These scores do not es">
            <a:extLst xmlns:a="http://schemas.openxmlformats.org/drawingml/2006/main">
              <a:ext uri="{FF2B5EF4-FFF2-40B4-BE49-F238E27FC236}">
                <a16:creationId xmlns:a16="http://schemas.microsoft.com/office/drawing/2014/main" id="{4688EEAE-8CFB-428C-A01D-7E185E23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39175"/>
            <a:ext cx="16621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8B4E30"/>
                </a:solidFill>
                <a:latin typeface="Arial"/>
                <a:ea typeface="Arial"/>
                <a:cs typeface="Arial"/>
              </a:rPr>
              <a:t>38 attacks remain missed. These scores do not establish real-world generalisation or zero future false positives.</a:t>
            </a:r>
          </a:p>
        </p:txBody>
      </p:sp>
    </p:spTree>
    <p:extLst>
      <p:ext uri="{BB962C8B-B14F-4D97-AF65-F5344CB8AC3E}">
        <p14:creationId xmlns:p14="http://schemas.microsoft.com/office/powerpoint/2010/main" val="17732585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5496450-6E7B-4336-B20D-45F50EA2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Dashboard monitoring and response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AFD6462-6541-4D7A-B0DA-7EADAADF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60E55DCF-A859-47B2-897E-B30B7E98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Actual local dashboard screenshot, 24 October 2026</a:t>
            </a:r>
          </a:p>
        </p:txBody>
      </p:sp>
      <p:sp>
        <p:nvSpPr>
          <p:cNvPr id="5" name="Seven views connect the case workflow.">
            <a:extLst xmlns:a="http://schemas.openxmlformats.org/drawingml/2006/main">
              <a:ext uri="{FF2B5EF4-FFF2-40B4-BE49-F238E27FC236}">
                <a16:creationId xmlns:a16="http://schemas.microsoft.com/office/drawing/2014/main" id="{B45CC39C-4009-4539-8E08-3C5D32F5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Seven views connect the case workflow.</a:t>
            </a:r>
          </a:p>
        </p:txBody>
      </p:sp>
      <p:sp>
        <p:nvSpPr>
          <p:cNvPr id="6" name="Command Center&#10;Threat Analytics&#10;Identity Monitor">
            <a:extLst xmlns:a="http://schemas.openxmlformats.org/drawingml/2006/main">
              <a:ext uri="{FF2B5EF4-FFF2-40B4-BE49-F238E27FC236}">
                <a16:creationId xmlns:a16="http://schemas.microsoft.com/office/drawing/2014/main" id="{A7B77800-7971-4113-AC19-90668EB0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4857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Command Center</a:t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Threat Analytics</a:t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Identity Monitoring</a:t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Incident Response</a:t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Data Pipeline</a:t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Rubric and Evidence</a:t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Database Explorer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ED90A-289F-439B-BFAC-E80CE656C0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4d0572b104359"/>
          <a:stretch xmlns:a="http://schemas.openxmlformats.org/drawingml/2006/main"/>
        </p:blipFill>
        <p:spPr>
          <a:xfrm xmlns:a="http://schemas.openxmlformats.org/drawingml/2006/main">
            <a:off x="6000750" y="2210693"/>
            <a:ext cx="11477625" cy="6456164"/>
          </a:xfrm>
          <a:prstGeom xmlns:a="http://schemas.openxmlformats.org/drawingml/2006/main" prst="rect">
            <a:avLst/>
          </a:prstGeom>
        </p:spPr>
      </p:pic>
      <p:sp>
        <p:nvSpPr>
          <p:cNvPr id="8" name="Case status, assignments and actions persist in ">
            <a:extLst xmlns:a="http://schemas.openxmlformats.org/drawingml/2006/main">
              <a:ext uri="{FF2B5EF4-FFF2-40B4-BE49-F238E27FC236}">
                <a16:creationId xmlns:a16="http://schemas.microsoft.com/office/drawing/2014/main" id="{2B9FD038-923B-44E2-A4E8-C12118DF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8829675"/>
            <a:ext cx="11382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Case status, assignments and actions persist in MySQL. Source evidence remains retrievable from MongoDB.</a:t>
            </a:r>
          </a:p>
        </p:txBody>
      </p:sp>
    </p:spTree>
    <p:extLst>
      <p:ext uri="{BB962C8B-B14F-4D97-AF65-F5344CB8AC3E}">
        <p14:creationId xmlns:p14="http://schemas.microsoft.com/office/powerpoint/2010/main" val="7866798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F6F7EB4-7104-4F22-8C53-3CD5B75E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ACID checks and Codd rule coverage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4429E57-3797-4F62-AFDD-CBB6B94A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EE8700BC-7384-45F5-99BE-9F07C143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Live synthetic MySQL proof on 24 October 2026. Scope excludes cross-store atomicity.</a:t>
            </a:r>
          </a:p>
        </p:txBody>
      </p:sp>
      <p:sp>
        <p:nvSpPr>
          <p:cNvPr id="5" name="Observed transaction results">
            <a:extLst xmlns:a="http://schemas.openxmlformats.org/drawingml/2006/main">
              <a:ext uri="{FF2B5EF4-FFF2-40B4-BE49-F238E27FC236}">
                <a16:creationId xmlns:a16="http://schemas.microsoft.com/office/drawing/2014/main" id="{6DA90B99-CBAF-4678-A4CD-DF8860DE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Observed transaction results</a:t>
            </a:r>
          </a:p>
        </p:txBody>
      </p:sp>
      <p:sp>
        <p:nvSpPr>
          <p:cNvPr id="6" name="A  Atomicity">
            <a:extLst xmlns:a="http://schemas.openxmlformats.org/drawingml/2006/main">
              <a:ext uri="{FF2B5EF4-FFF2-40B4-BE49-F238E27FC236}">
                <a16:creationId xmlns:a16="http://schemas.microsoft.com/office/drawing/2014/main" id="{CE514127-5AA1-4A65-BE82-3047595D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A  Atomicity</a:t>
            </a:r>
          </a:p>
        </p:txBody>
      </p:sp>
      <p:sp>
        <p:nvSpPr>
          <p:cNvPr id="7" name="Injected failure before commit&#10;Case stays open&#10;0">
            <a:extLst xmlns:a="http://schemas.openxmlformats.org/drawingml/2006/main">
              <a:ext uri="{FF2B5EF4-FFF2-40B4-BE49-F238E27FC236}">
                <a16:creationId xmlns:a16="http://schemas.microsoft.com/office/drawing/2014/main" id="{5FAEAA29-BA8C-4B50-BB21-57538969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709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Injected failure before commit</a:t>
            </a:r>
          </a:p>
          <a:p xmlns:a="http://schemas.openxmlformats.org/drawingml/2006/main">
            <a: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Case stays open</a:t>
            </a:r>
          </a:p>
          <a:p xmlns:a="http://schemas.openxmlformats.org/drawingml/2006/main">
            <a: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0 assignments and 0 audit rows</a:t>
            </a:r>
          </a:p>
        </p:txBody>
      </p:sp>
      <p:sp>
        <p:nvSpPr>
          <p:cNvPr id="8" name="C  Consistency">
            <a:extLst xmlns:a="http://schemas.openxmlformats.org/drawingml/2006/main">
              <a:ext uri="{FF2B5EF4-FFF2-40B4-BE49-F238E27FC236}">
                <a16:creationId xmlns:a16="http://schemas.microsoft.com/office/drawing/2014/main" id="{ED0F87CB-601A-48FD-BC57-73D58D91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C  Consistency</a:t>
            </a:r>
          </a:p>
        </p:txBody>
      </p:sp>
      <p:sp>
        <p:nvSpPr>
          <p:cNvPr id="9" name="Database rejects invalid severity 3819&#10;Invalid f">
            <a:extLst xmlns:a="http://schemas.openxmlformats.org/drawingml/2006/main">
              <a:ext uri="{FF2B5EF4-FFF2-40B4-BE49-F238E27FC236}">
                <a16:creationId xmlns:a16="http://schemas.microsoft.com/office/drawing/2014/main" id="{2020365C-6801-45BB-ABDE-068E2A27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709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Database rejects invalid severity 3819</a:t>
            </a:r>
          </a:p>
          <a:p xmlns:a="http://schemas.openxmlformats.org/drawingml/2006/main">
            <a: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Invalid foreign key 1216</a:t>
            </a:r>
          </a:p>
          <a:p xmlns:a="http://schemas.openxmlformats.org/drawingml/2006/main">
            <a: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Duplicate detection key 1062</a:t>
            </a:r>
          </a:p>
        </p:txBody>
      </p:sp>
      <p:sp>
        <p:nvSpPr>
          <p:cNvPr id="10" name="I  Isolation">
            <a:extLst xmlns:a="http://schemas.openxmlformats.org/drawingml/2006/main">
              <a:ext uri="{FF2B5EF4-FFF2-40B4-BE49-F238E27FC236}">
                <a16:creationId xmlns:a16="http://schemas.microsoft.com/office/drawing/2014/main" id="{53B46CDC-0B36-4487-AF1B-E1F4FFCD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I  Isolation</a:t>
            </a:r>
          </a:p>
        </p:txBody>
      </p:sp>
      <p:sp>
        <p:nvSpPr>
          <p:cNvPr id="11" name="Session B sees the old open status&#10;FOR UPDATE NO">
            <a:extLst xmlns:a="http://schemas.openxmlformats.org/drawingml/2006/main">
              <a:ext uri="{FF2B5EF4-FFF2-40B4-BE49-F238E27FC236}">
                <a16:creationId xmlns:a16="http://schemas.microsoft.com/office/drawing/2014/main" id="{8E56B58D-F970-4BEA-B427-7E815C8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709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Session B sees the old open status</a:t>
            </a:r>
          </a:p>
          <a:p xmlns:a="http://schemas.openxmlformats.org/drawingml/2006/main">
            <a: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FOR UPDATE NOWAIT returns 3572</a:t>
            </a:r>
          </a:p>
          <a:p xmlns:a="http://schemas.openxmlformats.org/drawingml/2006/main">
            <a: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Session A rollback releases the lock</a:t>
            </a:r>
          </a:p>
        </p:txBody>
      </p:sp>
      <p:sp>
        <p:nvSpPr>
          <p:cNvPr id="12" name="D  Durability check">
            <a:extLst xmlns:a="http://schemas.openxmlformats.org/drawingml/2006/main">
              <a:ext uri="{FF2B5EF4-FFF2-40B4-BE49-F238E27FC236}">
                <a16:creationId xmlns:a16="http://schemas.microsoft.com/office/drawing/2014/main" id="{454BB754-1034-4B13-9D75-861B2330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770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D  Durability check</a:t>
            </a:r>
          </a:p>
        </p:txBody>
      </p:sp>
      <p:sp>
        <p:nvSpPr>
          <p:cNvPr id="13" name="Commit, close and reconnect&#10;Assigned case, 1 ass">
            <a:extLst xmlns:a="http://schemas.openxmlformats.org/drawingml/2006/main">
              <a:ext uri="{FF2B5EF4-FFF2-40B4-BE49-F238E27FC236}">
                <a16:creationId xmlns:a16="http://schemas.microsoft.com/office/drawing/2014/main" id="{EEA0A70F-4DB7-4AFB-A661-31565D0B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372350"/>
            <a:ext cx="709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Commit, close and reconnect</a:t>
            </a:r>
          </a:p>
          <a:p xmlns:a="http://schemas.openxmlformats.org/drawingml/2006/main">
            <a: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Assigned case, 1 assignment, 1 audit</a:t>
            </a:r>
          </a:p>
          <a:p xmlns:a="http://schemas.openxmlformats.org/drawingml/2006/main">
            <a:pPr algn="l">
              <a:defRPr sz="20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flush_at_commit = 1; no crash test</a:t>
            </a:r>
          </a:p>
        </p:txBody>
      </p:sp>
      <p:sp>
        <p:nvSpPr>
          <p:cNvPr id="14" name="MySQL 8.0.46, InnoDB&#10;REPEATABLE READ, sync_binlo">
            <a:extLst xmlns:a="http://schemas.openxmlformats.org/drawingml/2006/main">
              <a:ext uri="{FF2B5EF4-FFF2-40B4-BE49-F238E27FC236}">
                <a16:creationId xmlns:a16="http://schemas.microsoft.com/office/drawing/2014/main" id="{789F85AC-FDE3-4FF5-B222-55DA3977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91550"/>
            <a:ext cx="7191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MySQL 8.0.46, InnoDB</a:t>
            </a:r>
          </a:p>
          <a:p xmlns:a="http://schemas.openxmlformats.org/drawingml/2006/main">
            <a:pPr algn="l">
              <a:defRPr sz="18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REPEATABLE READ, sync_binlog = 1</a:t>
            </a:r>
          </a:p>
          <a:p xmlns:a="http://schemas.openxmlformats.org/drawingml/2006/main">
            <a:pPr algn="l">
              <a:defRPr sz="18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Synthetic fixture removed after verification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D688D-047B-4D03-96E1-59BAB45E75F3}"/>
              </a:ext>
            </a:extLst>
          </p:cNvPr>
          <p:cNvGraphicFramePr/>
          <p:nvPr/>
        </p:nvGraphicFramePr>
        <p:xfrm>
          <a:off xmlns:a="http://schemas.openxmlformats.org/drawingml/2006/main" x="8334375" y="1676400"/>
          <a:ext xmlns:a="http://schemas.openxmlformats.org/drawingml/2006/main" cx="9239250" cy="7486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7700"/>
                <a:gridCol w="3857625"/>
                <a:gridCol w="4733925"/>
              </a:tblGrid>
              <a:tr h="53476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Relational principle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Project evidence or gap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</a:tr>
              <a:tr h="53476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Relational foundation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MySQL case data through SQL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53476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Information in tables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Seven relational tables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53476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Guaranteed access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PK and column lookup checked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53476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Systematic NULL handling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Unknown user/system tested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53476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Queryable online catalogue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INFORMATION_SCHEMA queried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53476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Comprehensive data language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SQL DDL/DML/transactions only*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53476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Updatable views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Not demonstrated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53476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Set-level data changes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Set-based assignment updates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53476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Physical independence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Engine capability, not tested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53476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Logical independence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Not demonstrated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53476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Integrity independence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DB constraints reject bad writes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53476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Distribution independence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Not demonstrated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53476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No lower-level bypass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Direct SQL checks only*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</a:tbl>
          </a:graphicData>
        </a:graphic>
      </p:graphicFrame>
      <p:sp>
        <p:nvSpPr>
          <p:cNvPr id="16" name="* Partial evidence. Full Codd compliance and cra">
            <a:extLst xmlns:a="http://schemas.openxmlformats.org/drawingml/2006/main">
              <a:ext uri="{FF2B5EF4-FFF2-40B4-BE49-F238E27FC236}">
                <a16:creationId xmlns:a16="http://schemas.microsoft.com/office/drawing/2014/main" id="{15100B13-725D-46BF-A3F6-0B6674C7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929640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B4E30"/>
                </a:solidFill>
                <a:latin typeface="Arial"/>
                <a:ea typeface="Arial"/>
                <a:cs typeface="Arial"/>
              </a:rPr>
              <a:t>* Partial evidence. Full Codd compliance and crash recovery are not established.</a:t>
            </a:r>
          </a:p>
        </p:txBody>
      </p:sp>
    </p:spTree>
    <p:extLst>
      <p:ext uri="{BB962C8B-B14F-4D97-AF65-F5344CB8AC3E}">
        <p14:creationId xmlns:p14="http://schemas.microsoft.com/office/powerpoint/2010/main" val="20742928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F481BA4-6B9E-4464-92A1-26785D27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Advanced queries and database exploration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52FC6B2-5636-403C-A1F3-3090BFB9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5B69BEA8-81F8-4C19-B27B-65E73E41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Source: analytics modules and Database Explorer</a:t>
            </a:r>
          </a:p>
        </p:txBody>
      </p:sp>
      <p:sp>
        <p:nvSpPr>
          <p:cNvPr id="5" name="10 SQL analyses&#10;6 MongoDB pipelines&#10;2 procedure ">
            <a:extLst xmlns:a="http://schemas.openxmlformats.org/drawingml/2006/main">
              <a:ext uri="{FF2B5EF4-FFF2-40B4-BE49-F238E27FC236}">
                <a16:creationId xmlns:a16="http://schemas.microsoft.com/office/drawing/2014/main" id="{0A58C3B6-D6A5-4962-A4A7-B864A355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10 SQL analyses</a:t>
            </a:r>
          </a:p>
          <a:p xmlns:a="http://schemas.openxmlformats.org/drawingml/2006/main">
            <a:pPr algn="l">
              <a:defRPr sz="35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6 MongoDB pipelines</a:t>
            </a:r>
          </a:p>
          <a:p xmlns:a="http://schemas.openxmlformats.org/drawingml/2006/main">
            <a:pPr algn="l">
              <a:defRPr sz="3525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2 procedure definitions</a:t>
            </a:r>
          </a:p>
        </p:txBody>
      </p:sp>
      <p:sp>
        <p:nvSpPr>
          <p:cNvPr id="6" name="Joins, nested queries, HAVING&#10;and cumulative win">
            <a:extLst xmlns:a="http://schemas.openxmlformats.org/drawingml/2006/main">
              <a:ext uri="{FF2B5EF4-FFF2-40B4-BE49-F238E27FC236}">
                <a16:creationId xmlns:a16="http://schemas.microsoft.com/office/drawing/2014/main" id="{7D6D5679-E423-4B6B-AA94-47B742EE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6381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Joins, nested queries, HAVING</a:t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and cumulative window totals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MongoDB grouping and time trends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Editable read-only query tabs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F7E50-3D34-44A2-A393-892DFD3985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c0fade51a48c4"/>
          <a:stretch xmlns:a="http://schemas.openxmlformats.org/drawingml/2006/main"/>
        </p:blipFill>
        <p:spPr>
          <a:xfrm xmlns:a="http://schemas.openxmlformats.org/drawingml/2006/main">
            <a:off x="7524750" y="2202954"/>
            <a:ext cx="10048875" cy="5652492"/>
          </a:xfrm>
          <a:prstGeom xmlns:a="http://schemas.openxmlformats.org/drawingml/2006/main" prst="rect">
            <a:avLst/>
          </a:prstGeom>
        </p:spPr>
      </p:pic>
      <p:sp>
        <p:nvSpPr>
          <p:cNvPr id="8" name="SELECT severity, COUNT(*) AS cases&#10;FROM incident">
            <a:extLst xmlns:a="http://schemas.openxmlformats.org/drawingml/2006/main">
              <a:ext uri="{FF2B5EF4-FFF2-40B4-BE49-F238E27FC236}">
                <a16:creationId xmlns:a16="http://schemas.microsoft.com/office/drawing/2014/main" id="{F8321442-3F28-48F8-838D-728FDAAC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143875"/>
            <a:ext cx="981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SELECT severity, COUNT(*) AS cases</a:t>
            </a:r>
          </a:p>
          <a:p xmlns:a="http://schemas.openxmlformats.org/drawingml/2006/main">
            <a:pPr algn="l">
              <a:defRPr sz="23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FROM incidents</a:t>
            </a:r>
          </a:p>
          <a:p xmlns:a="http://schemas.openxmlformats.org/drawingml/2006/main">
            <a:pPr algn="l">
              <a:defRPr sz="232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GROUP BY severity;</a:t>
            </a:r>
          </a:p>
        </p:txBody>
      </p:sp>
    </p:spTree>
    <p:extLst>
      <p:ext uri="{BB962C8B-B14F-4D97-AF65-F5344CB8AC3E}">
        <p14:creationId xmlns:p14="http://schemas.microsoft.com/office/powerpoint/2010/main" val="8406522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0109219-BC93-4239-BB36-CD53ADB7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Testing, validation and security boundaries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FA5FEAA-2701-4B16-BABA-D834DAFF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8BA359B0-24B7-4EE1-8172-A599696B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Source: dated verification reports and live ACID evidence</a:t>
            </a:r>
          </a:p>
        </p:txBody>
      </p:sp>
      <p:sp>
        <p:nvSpPr>
          <p:cNvPr id="5" name="97">
            <a:extLst xmlns:a="http://schemas.openxmlformats.org/drawingml/2006/main">
              <a:ext uri="{FF2B5EF4-FFF2-40B4-BE49-F238E27FC236}">
                <a16:creationId xmlns:a16="http://schemas.microsoft.com/office/drawing/2014/main" id="{3B185085-E575-47FD-A0E3-6A5AB045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855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97</a:t>
            </a:r>
          </a:p>
        </p:txBody>
      </p:sp>
      <p:sp>
        <p:nvSpPr>
          <p:cNvPr id="6" name="unit and UI tests passed">
            <a:extLst xmlns:a="http://schemas.openxmlformats.org/drawingml/2006/main">
              <a:ext uri="{FF2B5EF4-FFF2-40B4-BE49-F238E27FC236}">
                <a16:creationId xmlns:a16="http://schemas.microsoft.com/office/drawing/2014/main" id="{46A607FC-D5E0-4BE0-8B04-31D08585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unit and UI tests passed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083E08E3-AB89-4747-A287-8CD53075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812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855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live integration tests passed">
            <a:extLst xmlns:a="http://schemas.openxmlformats.org/drawingml/2006/main">
              <a:ext uri="{FF2B5EF4-FFF2-40B4-BE49-F238E27FC236}">
                <a16:creationId xmlns:a16="http://schemas.microsoft.com/office/drawing/2014/main" id="{37A5855A-F6AF-436A-94FE-F6C42841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live integration tests passed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34440-514F-4594-9524-7BA476BD23E7}"/>
              </a:ext>
            </a:extLst>
          </p:cNvPr>
          <p:cNvGraphicFramePr/>
          <p:nvPr/>
        </p:nvGraphicFramePr>
        <p:xfrm>
          <a:off xmlns:a="http://schemas.openxmlformats.org/drawingml/2006/main" x="742950" y="4714875"/>
          <a:ext xmlns:a="http://schemas.openxmlformats.org/drawingml/2006/main" cx="16573500" cy="3314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476750"/>
                <a:gridCol w="12096750"/>
              </a:tblGrid>
              <a:tr h="66294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Check area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What the project verifies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Input validation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Required fields, timestamps, identifiers and duplicates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Response workflow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Assignment, action notes, resolution and reopening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Query safety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Writes and unsafe operators blocked, scoped results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Service failures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Rollback and meaningful errors without credentials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</a:tbl>
          </a:graphicData>
        </a:graphic>
      </p:graphicFrame>
      <p:sp>
        <p:nvSpPr>
          <p:cNvPr id="10" name="Current limits: no production login/RBAC, no cro">
            <a:extLst xmlns:a="http://schemas.openxmlformats.org/drawingml/2006/main">
              <a:ext uri="{FF2B5EF4-FFF2-40B4-BE49-F238E27FC236}">
                <a16:creationId xmlns:a16="http://schemas.microsoft.com/office/drawing/2014/main" id="{0E64056F-F5E1-41DF-B859-44FCACD3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91550"/>
            <a:ext cx="16525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8B4E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8B4E30"/>
                </a:solidFill>
                <a:latin typeface="Arial"/>
                <a:ea typeface="Arial"/>
                <a:cs typeface="Arial"/>
              </a:rPr>
              <a:t>Current limits: no production login/RBAC, no cross-store transaction, and no durable rolling window across uploads.</a:t>
            </a:r>
          </a:p>
        </p:txBody>
      </p:sp>
    </p:spTree>
    <p:extLst>
      <p:ext uri="{BB962C8B-B14F-4D97-AF65-F5344CB8AC3E}">
        <p14:creationId xmlns:p14="http://schemas.microsoft.com/office/powerpoint/2010/main" val="5888685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5CECAAE-8967-4014-921C-E435C224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Live demonstration sequence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4964FA1-038C-4D82-9DE4-82E48E9A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8AD246A1-EC7F-41E8-A737-6F47F3B5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Expected synthetic fixture outcome at default thresholds</a:t>
            </a:r>
          </a:p>
        </p:txBody>
      </p:sp>
      <p:sp>
        <p:nvSpPr>
          <p:cNvPr id="5" name="1  Download a fresh synthetic CSV&#10;&#10;2  Validate a">
            <a:extLst xmlns:a="http://schemas.openxmlformats.org/drawingml/2006/main">
              <a:ext uri="{FF2B5EF4-FFF2-40B4-BE49-F238E27FC236}">
                <a16:creationId xmlns:a16="http://schemas.microsoft.com/office/drawing/2014/main" id="{D5B83E71-62A7-4279-8A00-908ECFE1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7810500" cy="647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1  Download a fresh synthetic 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2  Validate and import 12 events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3  Inspect MongoDB events and alerts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4  Open the two expected SQL cases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5  Assign, respond and resolve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6  Exclude the CSV and compare totals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FA71A-677C-4658-99E2-31CB5BE1C4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b4f88e83049a9"/>
          <a:stretch xmlns:a="http://schemas.openxmlformats.org/drawingml/2006/main"/>
        </p:blipFill>
        <p:spPr>
          <a:xfrm xmlns:a="http://schemas.openxmlformats.org/drawingml/2006/main">
            <a:off x="9048750" y="2431554"/>
            <a:ext cx="8524875" cy="4795242"/>
          </a:xfrm>
          <a:prstGeom xmlns:a="http://schemas.openxmlformats.org/drawingml/2006/main" prst="rect">
            <a:avLst/>
          </a:prstGeom>
        </p:spPr>
      </p:pic>
      <p:sp>
        <p:nvSpPr>
          <p:cNvPr id="7" name="Repeat the same import to show duplicates.&#10;Inclu">
            <a:extLst xmlns:a="http://schemas.openxmlformats.org/drawingml/2006/main">
              <a:ext uri="{FF2B5EF4-FFF2-40B4-BE49-F238E27FC236}">
                <a16:creationId xmlns:a16="http://schemas.microsoft.com/office/drawing/2014/main" id="{7B9DC0C7-75AD-4103-80BE-C3BCB29E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762875"/>
            <a:ext cx="847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Repeat the same import to show duplicates.</a:t>
            </a:r>
          </a:p>
          <a:p xmlns:a="http://schemas.openxmlformats.org/drawingml/2006/main">
            <a:pPr algn="l">
              <a:defRPr sz="25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Inclusion controls never delete stored data.</a:t>
            </a:r>
          </a:p>
        </p:txBody>
      </p:sp>
    </p:spTree>
    <p:extLst>
      <p:ext uri="{BB962C8B-B14F-4D97-AF65-F5344CB8AC3E}">
        <p14:creationId xmlns:p14="http://schemas.microsoft.com/office/powerpoint/2010/main" val="14717958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7EB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CA5D87B-881E-4D9C-8979-1AE711DB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76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342F"/>
                </a:solidFill>
                <a:latin typeface="Arial"/>
                <a:ea typeface="Arial"/>
                <a:cs typeface="Arial"/>
              </a:rPr>
              <a:t>Project outcomes and evaluation coverage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17AE233-2121-4A9F-B738-A053999C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869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209EE043-6556-46FA-A5C6-C4AF14D1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77400"/>
            <a:ext cx="1552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SDGs 9 and 16: digital resilience and accountable response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A1836-6244-417E-B221-A5F0B853278C}"/>
              </a:ext>
            </a:extLst>
          </p:cNvPr>
          <p:cNvGraphicFramePr/>
          <p:nvPr/>
        </p:nvGraphicFramePr>
        <p:xfrm>
          <a:off xmlns:a="http://schemas.openxmlformats.org/drawingml/2006/main" x="742950" y="1971675"/>
          <a:ext xmlns:a="http://schemas.openxmlformats.org/drawingml/2006/main" cx="16573500" cy="5429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381750"/>
                <a:gridCol w="1238250"/>
                <a:gridCol w="8953500"/>
              </a:tblGrid>
              <a:tr h="775607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Evaluation area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Marks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Demonstrable evidence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T w="9525">
                      <a:solidFill>
                        <a:srgbClr val="C6D0C8"/>
                      </a:solidFill>
                      <a:prstDash val="solid"/>
                    </a:lnT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D4DFD6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Application design and functionality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Import, detect and handle a persistent case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Python implementation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Typed modules, validation and services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SQL and NoSQL integration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Normalised workflow plus document evidence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Advanced querying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SQL analyses, MongoDB pipelines and procedures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Code quality, documentation and UI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Seven views, setup guide and project report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Testing, validation and error handling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6D0C8"/>
                      </a:solidFill>
                      <a:prstDash val="solid"/>
                    </a:lnL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20342F"/>
                          </a:solidFill>
                          <a:latin typeface="Arial"/>
                          <a:ea typeface="Arial"/>
                          <a:cs typeface="Arial"/>
                        </a:rPr>
                        <a:t>99 saved passing checks plus ACID evidence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C6D0C8"/>
                      </a:solidFill>
                      <a:prstDash val="solid"/>
                    </a:lnR>
                    <a:lnB w="9525">
                      <a:solidFill>
                        <a:srgbClr val="C6D0C8"/>
                      </a:solidFill>
                      <a:prstDash val="solid"/>
                    </a:lnB>
                    <a:solidFill>
                      <a:srgbClr val="E7EBE5"/>
                    </a:solidFill>
                  </a:tcPr>
                </a:tc>
              </a:tr>
            </a:tbl>
          </a:graphicData>
        </a:graphic>
      </p:graphicFrame>
      <p:sp>
        <p:nvSpPr>
          <p:cNvPr id="6" name="Next priorities">
            <a:extLst xmlns:a="http://schemas.openxmlformats.org/drawingml/2006/main">
              <a:ext uri="{FF2B5EF4-FFF2-40B4-BE49-F238E27FC236}">
                <a16:creationId xmlns:a16="http://schemas.microsoft.com/office/drawing/2014/main" id="{0E6754E2-183A-4B0B-9516-C6842156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Next priorities</a:t>
            </a:r>
          </a:p>
        </p:txBody>
      </p:sp>
      <p:sp>
        <p:nvSpPr>
          <p:cNvPr id="7" name="Production access control, cross-store recovery ">
            <a:extLst xmlns:a="http://schemas.openxmlformats.org/drawingml/2006/main">
              <a:ext uri="{FF2B5EF4-FFF2-40B4-BE49-F238E27FC236}">
                <a16:creationId xmlns:a16="http://schemas.microsoft.com/office/drawing/2014/main" id="{70A105A7-7280-4F83-BDF6-7EB3410E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2965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0342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342F"/>
                </a:solidFill>
                <a:latin typeface="Arial"/>
                <a:ea typeface="Arial"/>
                <a:cs typeface="Arial"/>
              </a:rPr>
              <a:t>Production access control, cross-store recovery and validation on independent network traffic.</a:t>
            </a:r>
          </a:p>
        </p:txBody>
      </p:sp>
      <p:sp>
        <p:nvSpPr>
          <p:cNvPr id="8" name="Questions">
            <a:extLst xmlns:a="http://schemas.openxmlformats.org/drawingml/2006/main">
              <a:ext uri="{FF2B5EF4-FFF2-40B4-BE49-F238E27FC236}">
                <a16:creationId xmlns:a16="http://schemas.microsoft.com/office/drawing/2014/main" id="{BC0BD3DB-E967-45BF-A487-FB4181B5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85534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34796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4796C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922841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2026-10-24T15:29:30.1390000Z</dcterms:created>
  <dcterms:modified xsi:type="dcterms:W3CDTF">2026-10-24T15:29:30.1390000Z</dcterms:modified>
</coreProperties>
</file>