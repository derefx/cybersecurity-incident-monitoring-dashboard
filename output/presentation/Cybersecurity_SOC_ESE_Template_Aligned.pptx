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7a78c3f88d446a" /><Relationship Type="http://schemas.openxmlformats.org/officeDocument/2006/relationships/extended-properties" Target="/docProps/app.xml" Id="R9042d9fbcfb343a4" /><Relationship Type="http://schemas.openxmlformats.org/officeDocument/2006/relationships/officeDocument" Target="/ppt/presentation.xml" Id="Rbd1a5eb14fd7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291dd52ad5465a"/>
  </p:sldMasterIdLst>
  <p:notesMasterIdLst>
    <p:notesMasterId xmlns:r="http://schemas.openxmlformats.org/officeDocument/2006/relationships" r:id="Rae54c1a9ed9249ba"/>
  </p:notesMasterIdLst>
  <p:sldIdLst>
    <p:sldId xmlns:r="http://schemas.openxmlformats.org/officeDocument/2006/relationships" id="256" r:id="Re90cd46c73c04e1e"/>
    <p:sldId xmlns:r="http://schemas.openxmlformats.org/officeDocument/2006/relationships" id="257" r:id="Rd57cbb332f2b4b7c"/>
    <p:sldId xmlns:r="http://schemas.openxmlformats.org/officeDocument/2006/relationships" id="258" r:id="R6cf78015f869425d"/>
    <p:sldId xmlns:r="http://schemas.openxmlformats.org/officeDocument/2006/relationships" id="259" r:id="R49dabc32c10546ff"/>
    <p:sldId xmlns:r="http://schemas.openxmlformats.org/officeDocument/2006/relationships" id="260" r:id="Ree2338ec3e1b4ab3"/>
    <p:sldId xmlns:r="http://schemas.openxmlformats.org/officeDocument/2006/relationships" id="261" r:id="Rd59a87419bae4a1a"/>
    <p:sldId xmlns:r="http://schemas.openxmlformats.org/officeDocument/2006/relationships" id="262" r:id="R04fdba0e17204c1f"/>
    <p:sldId xmlns:r="http://schemas.openxmlformats.org/officeDocument/2006/relationships" id="263" r:id="R09439fd4204048f5"/>
    <p:sldId xmlns:r="http://schemas.openxmlformats.org/officeDocument/2006/relationships" id="264" r:id="Re8f227472b864a7e"/>
    <p:sldId xmlns:r="http://schemas.openxmlformats.org/officeDocument/2006/relationships" id="265" r:id="Rd4277f6856bf4ab2"/>
    <p:sldId xmlns:r="http://schemas.openxmlformats.org/officeDocument/2006/relationships" id="266" r:id="R4b4e0243a61e4fe3"/>
    <p:sldId xmlns:r="http://schemas.openxmlformats.org/officeDocument/2006/relationships" id="267" r:id="Rd2db0c5106904732"/>
    <p:sldId xmlns:r="http://schemas.openxmlformats.org/officeDocument/2006/relationships" id="268" r:id="Rf1d45d76de584ba5"/>
    <p:sldId xmlns:r="http://schemas.openxmlformats.org/officeDocument/2006/relationships" id="269" r:id="R0edf5c6a08f94956"/>
    <p:sldId xmlns:r="http://schemas.openxmlformats.org/officeDocument/2006/relationships" id="270" r:id="R6bd0c3071e5a4c7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0924aa3f83475f" /><Relationship Type="http://schemas.openxmlformats.org/officeDocument/2006/relationships/slideMaster" Target="/ppt/slideMasters/slideMaster1.xml" Id="R28291dd52ad5465a" /><Relationship Type="http://schemas.openxmlformats.org/officeDocument/2006/relationships/notesMaster" Target="/ppt/notesMasters/notesMaster1.xml" Id="Rae54c1a9ed9249ba" /><Relationship Type="http://schemas.openxmlformats.org/officeDocument/2006/relationships/presProps" Target="/ppt/presProps.xml" Id="R1f891d95627b4369" /><Relationship Type="http://schemas.openxmlformats.org/officeDocument/2006/relationships/viewProps" Target="/ppt/viewProps.xml" Id="R267b38f2f9aa4751" /><Relationship Type="http://schemas.openxmlformats.org/officeDocument/2006/relationships/tableStyles" Target="/ppt/tableStyles.xml" Id="Rb0920329d9c54142" /><Relationship Type="http://schemas.openxmlformats.org/officeDocument/2006/relationships/slide" Target="/ppt/slides/slide1.xml" Id="Re90cd46c73c04e1e" /><Relationship Type="http://schemas.openxmlformats.org/officeDocument/2006/relationships/slide" Target="/ppt/slides/slide2.xml" Id="Rd57cbb332f2b4b7c" /><Relationship Type="http://schemas.openxmlformats.org/officeDocument/2006/relationships/slide" Target="/ppt/slides/slide3.xml" Id="R6cf78015f869425d" /><Relationship Type="http://schemas.openxmlformats.org/officeDocument/2006/relationships/slide" Target="/ppt/slides/slide4.xml" Id="R49dabc32c10546ff" /><Relationship Type="http://schemas.openxmlformats.org/officeDocument/2006/relationships/slide" Target="/ppt/slides/slide5.xml" Id="Ree2338ec3e1b4ab3" /><Relationship Type="http://schemas.openxmlformats.org/officeDocument/2006/relationships/slide" Target="/ppt/slides/slide6.xml" Id="Rd59a87419bae4a1a" /><Relationship Type="http://schemas.openxmlformats.org/officeDocument/2006/relationships/slide" Target="/ppt/slides/slide7.xml" Id="R04fdba0e17204c1f" /><Relationship Type="http://schemas.openxmlformats.org/officeDocument/2006/relationships/slide" Target="/ppt/slides/slide8.xml" Id="R09439fd4204048f5" /><Relationship Type="http://schemas.openxmlformats.org/officeDocument/2006/relationships/slide" Target="/ppt/slides/slide9.xml" Id="Re8f227472b864a7e" /><Relationship Type="http://schemas.openxmlformats.org/officeDocument/2006/relationships/slide" Target="/ppt/slides/slide10.xml" Id="Rd4277f6856bf4ab2" /><Relationship Type="http://schemas.openxmlformats.org/officeDocument/2006/relationships/slide" Target="/ppt/slides/slide11.xml" Id="R4b4e0243a61e4fe3" /><Relationship Type="http://schemas.openxmlformats.org/officeDocument/2006/relationships/slide" Target="/ppt/slides/slide12.xml" Id="Rd2db0c5106904732" /><Relationship Type="http://schemas.openxmlformats.org/officeDocument/2006/relationships/slide" Target="/ppt/slides/slide13.xml" Id="Rf1d45d76de584ba5" /><Relationship Type="http://schemas.openxmlformats.org/officeDocument/2006/relationships/slide" Target="/ppt/slides/slide14.xml" Id="R0edf5c6a08f94956" /><Relationship Type="http://schemas.openxmlformats.org/officeDocument/2006/relationships/slide" Target="/ppt/slides/slide15.xml" Id="R6bd0c3071e5a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fdf418e3914f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ec9657deb4714" /><Relationship Type="http://schemas.openxmlformats.org/officeDocument/2006/relationships/notesMaster" Target="/ppt/notesMasters/notesMaster1.xml" Id="R187d911ac8de40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4a39bf5029462f" /><Relationship Type="http://schemas.openxmlformats.org/officeDocument/2006/relationships/notesMaster" Target="/ppt/notesMasters/notesMaster1.xml" Id="R7bd88391f9d74f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1f5cb3a8dc496c" /><Relationship Type="http://schemas.openxmlformats.org/officeDocument/2006/relationships/notesMaster" Target="/ppt/notesMasters/notesMaster1.xml" Id="R266ae2d9f1ee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d4b1d3ca354a55" /><Relationship Type="http://schemas.openxmlformats.org/officeDocument/2006/relationships/notesMaster" Target="/ppt/notesMasters/notesMaster1.xml" Id="R7296d741ac8044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e040caf364ad1" /><Relationship Type="http://schemas.openxmlformats.org/officeDocument/2006/relationships/notesMaster" Target="/ppt/notesMasters/notesMaster1.xml" Id="R722c2f5539a9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766ad7fae04d7a" /><Relationship Type="http://schemas.openxmlformats.org/officeDocument/2006/relationships/notesMaster" Target="/ppt/notesMasters/notesMaster1.xml" Id="R1b44ac01e6d440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e2aa10a8b540fd" /><Relationship Type="http://schemas.openxmlformats.org/officeDocument/2006/relationships/notesMaster" Target="/ppt/notesMasters/notesMaster1.xml" Id="R2a567ab4c1cb49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d27a5a07cb4f28" /><Relationship Type="http://schemas.openxmlformats.org/officeDocument/2006/relationships/notesMaster" Target="/ppt/notesMasters/notesMaster1.xml" Id="R1e366fca0cf94a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0f3e72d2ae4dc8" /><Relationship Type="http://schemas.openxmlformats.org/officeDocument/2006/relationships/notesMaster" Target="/ppt/notesMasters/notesMaster1.xml" Id="R447a4e12123646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f096671004381" /><Relationship Type="http://schemas.openxmlformats.org/officeDocument/2006/relationships/notesMaster" Target="/ppt/notesMasters/notesMaster1.xml" Id="R29392544fa5941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5ebf7ce17e4045" /><Relationship Type="http://schemas.openxmlformats.org/officeDocument/2006/relationships/notesMaster" Target="/ppt/notesMasters/notesMaster1.xml" Id="R07de77a6250944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04800a24be476e" /><Relationship Type="http://schemas.openxmlformats.org/officeDocument/2006/relationships/notesMaster" Target="/ppt/notesMasters/notesMaster1.xml" Id="R741927a52ed24e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e2cb2e737d44a6" /><Relationship Type="http://schemas.openxmlformats.org/officeDocument/2006/relationships/notesMaster" Target="/ppt/notesMasters/notesMaster1.xml" Id="R6df08977f4304f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31229f41be4ce6" /><Relationship Type="http://schemas.openxmlformats.org/officeDocument/2006/relationships/notesMaster" Target="/ppt/notesMasters/notesMaster1.xml" Id="R92dc72e0ffb549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9c5a1c53504eda" /><Relationship Type="http://schemas.openxmlformats.org/officeDocument/2006/relationships/notesMaster" Target="/ppt/notesMasters/notesMaster1.xml" Id="R9e86a2bd890848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README.md; supplied report and presentation format.</a:t>
            </a:r>
          </a:p>
          <a:p xmlns:a="http://schemas.openxmlformats.org/drawingml/2006/main">
            <a:r>
              <a:t>Team names and PRNs supplied by the project team. Division, group number and faculty guide have not been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report chapter 2.</a:t>
            </a:r>
          </a:p>
          <a:p xmlns:a="http://schemas.openxmlformats.org/drawingml/2006/main">
            <a:r>
              <a:t>Illustrative office scenario, not a claimed real incident.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docs/RUBRIC_MAPPING.md; docs/DATA_DICTIONARY.md.</a:t>
            </a:r>
          </a:p>
          <a:p xmlns:a="http://schemas.openxmlformats.org/drawingml/2006/main">
            <a:r>
              <a:t>SDG links are qualitative project alignment, not measured impact. https://sdgs.un.org/goals/goal9 and https://sdgs.un.org/goals/goal16. No live packet interception or automatic IP blocking.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etl/pipeline.py; incidents/incident_service.py; database/mongo_repository.py.</a:t>
            </a:r>
          </a:p>
          <a:p xmlns:a="http://schemas.openxmlformats.org/drawingml/2006/main">
            <a:r>
              <a:t>Diagram follows ingestion then response. Streamlit reads both stores, and Python performs cross-store lookups. Authentication rules use 5 failures/5 minutes and 3 successful IP/device combinations/10 minutes by default. Batch windows do not persist across separate uploads.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requirements.txt; README.md; config/settings.py.</a:t>
            </a:r>
          </a:p>
          <a:p xmlns:a="http://schemas.openxmlformats.org/drawingml/2006/main">
            <a:r>
              <a:t>Hardware line is a planning recommendation, not a measured minimum. MongoDB document modelling: https://www.mongodb.com/docs/manual/data-modeling/. MySQL transaction properties: https://dev.mysql.com/doc/refman/8.0/en/mysql-acid.html.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database/schema.sql.</a:t>
            </a:r>
          </a:p>
          <a:p xmlns:a="http://schemas.openxmlformats.org/drawingml/2006/main">
            <a:r>
              <a:t>The diagram shows primary keys and central relationships, with textual annotations for user and audit-analyst references to avoid crossed lines. Each assignment and audit row references exactly one incident. The audit analyst, incident user/system and system owner can be NULL. Observed network endpoints do not establish internal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database/schema.sql; docs/DATA_DICTIONARY.md.</a:t>
            </a:r>
          </a:p>
          <a:p xmlns:a="http://schemas.openxmlformats.org/drawingml/2006/main">
            <a:r>
              <a:t>Schema matrix lists key attributes, not every column. Normalization describes the intended functional dependencies, not a formal proof of every dependency. Source_dataset scopes external identities. Keep source_event_id as provenance, not a cross-database foreign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analytics/sql_queries.py; database/procedures.sql; incidents/assignment_service.py; tmp/ppt_build/acid_evidence.json.</a:t>
            </a:r>
          </a:p>
          <a:p xmlns:a="http://schemas.openxmlformats.org/drawingml/2006/main">
            <a:r>
              <a:t>Parameterized SQL handles input. The displayed query is a source example, not a fabricated result table. Two procedure definitions exist, but deployment may require an administrator because the application account lacks ALTER ROUTINE. No persistent SQL views are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database/mongo_repository.py; analytics/mongo_aggregations.py; etl/upload_history.py.</a:t>
            </a:r>
          </a:p>
          <a:p xmlns:a="http://schemas.openxmlformats.org/drawingml/2006/main">
            <a:r>
              <a:t>Pipeline shown is a concise source example. The app applies visible-source scope before user aggregation. Unique event and detection identifiers support retry-safe upserts. MySQL records incidents and assignments while MongoDB retains linked evidence. MongoDB aggregate documentation: https://www.mongodb.com/docs/manual/aggregation/.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tmp/report_build/dashboard.png; etl/demo_data.py; tests/test_response_integration.py.</a:t>
            </a:r>
          </a:p>
          <a:p xmlns:a="http://schemas.openxmlformats.org/drawingml/2006/main">
            <a:r>
              <a:t>Actual saved dashboard screenshot and snapshot from 24 October 2026. No claim that snapshot totals remain current. The synthetic demo expects two alerts from 5 failures, 3 successful origins and a 4-failure control. Verify the actual live import summary. Assignment and resolution persist in MySQL and alter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reports/verification.json; reports/response_integration.json; models/network_classifier_metrics.json; tests/test_detection.py; tests/test_loaders.py.</a:t>
            </a:r>
          </a:p>
          <a:p xmlns:a="http://schemas.openxmlformats.org/drawingml/2006/main">
            <a:r>
              <a:t>These are saved verification results from 24 October 2026, not new tests run during template alignment. Unit/UI tests use controlled doubles. Integration checks use actual MySQL and MongoDB. Model metrics belong to a held-out split from supplied representative generated network data. Threshold 0.88 was chosen using validation data. Random Forest has 400 trees, max_depth 18 and min_samples_leaf 2. Cross-source IP/timestamp matching is prohibited without an explicit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 at commit 4bee733: https://github.com/DereFX/cybersecurity-incident-monitoring-dashboard</a:t>
            </a:r>
          </a:p>
          <a:p xmlns:a="http://schemas.openxmlformats.org/drawingml/2006/main">
            <a:r>
              <a:t>Files: tmp/ppt_build/verify_acid.py; tmp/ppt_build/acid_evidence.json; database/mysql_connection.py; incidents/assignment_service.py</a:t>
            </a:r>
          </a:p>
          <a:p xmlns:a="http://schemas.openxmlformats.org/drawingml/2006/main">
            <a:r>
              <a:t>Actual checks: {</a:t>
            </a:r>
          </a:p>
          <a:p xmlns:a="http://schemas.openxmlformats.org/drawingml/2006/main">
            <a:r>
              <a:t>  "checked_at_utc": "2026-10-24T15:23:29.974678+00:00",</a:t>
            </a:r>
          </a:p>
          <a:p xmlns:a="http://schemas.openxmlformats.org/drawingml/2006/main">
            <a:r>
              <a:t>  "source_dataset": "synthetic_acid_proof_07ad96061a8f401d85ed75bf26114a70",</a:t>
            </a:r>
          </a:p>
          <a:p xmlns:a="http://schemas.openxmlformats.org/drawingml/2006/main">
            <a:r>
              <a:t>  "scope": "MySQL only; synthetic fixture; no server restart or cross-store atomicity test",</a:t>
            </a:r>
          </a:p>
          <a:p xmlns:a="http://schemas.openxmlformats.org/drawingml/2006/main">
            <a:r>
              <a:t>  "checks": {</a:t>
            </a:r>
          </a:p>
          <a:p xmlns:a="http://schemas.openxmlformats.org/drawingml/2006/main">
            <a:r>
              <a:t>    "atomicity":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"case_status": "open",</a:t>
            </a:r>
          </a:p>
          <a:p xmlns:a="http://schemas.openxmlformats.org/drawingml/2006/main">
            <a:r>
              <a:t>      "assignments_after_rollback": 0,</a:t>
            </a:r>
          </a:p>
          <a:p xmlns:a="http://schemas.openxmlformats.org/drawingml/2006/main">
            <a:r>
              <a:t>      "audits_after_rollback": 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"consistency":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"rejected_error_codes": {</a:t>
            </a:r>
          </a:p>
          <a:p xmlns:a="http://schemas.openxmlformats.org/drawingml/2006/main">
            <a:r>
              <a:t>        "check": 3819,</a:t>
            </a:r>
          </a:p>
          <a:p xmlns:a="http://schemas.openxmlformats.org/drawingml/2006/main">
            <a:r>
              <a:t>        "foreign_key": 1216,</a:t>
            </a:r>
          </a:p>
          <a:p xmlns:a="http://schemas.openxmlformats.org/drawingml/2006/main">
            <a:r>
              <a:t>        "unique": 1062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"isolation":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"second_session_read": "open",</a:t>
            </a:r>
          </a:p>
          <a:p xmlns:a="http://schemas.openxmlformats.org/drawingml/2006/main">
            <a:r>
              <a:t>      "conflicting_lock_error": 3572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"durability": {</a:t>
            </a:r>
          </a:p>
          <a:p xmlns:a="http://schemas.openxmlformats.org/drawingml/2006/main">
            <a:r>
              <a:t>      "passed": true,</a:t>
            </a:r>
          </a:p>
          <a:p xmlns:a="http://schemas.openxmlformats.org/drawingml/2006/main">
            <a:r>
              <a:t>      "new_connection_status": "assigned",</a:t>
            </a:r>
          </a:p>
          <a:p xmlns:a="http://schemas.openxmlformats.org/drawingml/2006/main">
            <a:r>
              <a:t>      "assignment_count": 1,</a:t>
            </a:r>
          </a:p>
          <a:p xmlns:a="http://schemas.openxmlformats.org/drawingml/2006/main">
            <a:r>
              <a:t>      "audit_count": 1,</a:t>
            </a:r>
          </a:p>
          <a:p xmlns:a="http://schemas.openxmlformats.org/drawingml/2006/main">
            <a:r>
              <a:t>      "flush_at_commit": 1,</a:t>
            </a:r>
          </a:p>
          <a:p xmlns:a="http://schemas.openxmlformats.org/drawingml/2006/main">
            <a:r>
              <a:t>      "limit": "Commit survives connection close and reopen. Crash/power-loss recovery was not tested."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"codd_evidence": {</a:t>
            </a:r>
          </a:p>
          <a:p xmlns:a="http://schemas.openxmlformats.org/drawingml/2006/main">
            <a:r>
              <a:t>      "pk_access": true,</a:t>
            </a:r>
          </a:p>
          <a:p xmlns:a="http://schemas.openxmlformats.org/drawingml/2006/main">
            <a:r>
              <a:t>      "systematic_nulls": {</a:t>
            </a:r>
          </a:p>
          <a:p xmlns:a="http://schemas.openxmlformats.org/drawingml/2006/main">
            <a:r>
              <a:t>        "unknown_user": 1,</a:t>
            </a:r>
          </a:p>
          <a:p xmlns:a="http://schemas.openxmlformats.org/drawingml/2006/main">
            <a:r>
              <a:t>        "unknown_system":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"catalog_relations": 3,</a:t>
            </a:r>
          </a:p>
          <a:p xmlns:a="http://schemas.openxmlformats.org/drawingml/2006/main">
            <a:r>
              <a:t>      "constraints_independent_of_python": {</a:t>
            </a:r>
          </a:p>
          <a:p xmlns:a="http://schemas.openxmlformats.org/drawingml/2006/main">
            <a:r>
              <a:t>        "check": 3819,</a:t>
            </a:r>
          </a:p>
          <a:p xmlns:a="http://schemas.openxmlformats.org/drawingml/2006/main">
            <a:r>
              <a:t>        "foreign_key": 1216,</a:t>
            </a:r>
          </a:p>
          <a:p xmlns:a="http://schemas.openxmlformats.org/drawingml/2006/main">
            <a:r>
              <a:t>        "unique": 1062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"fixture_incident_id": 6189,</a:t>
            </a:r>
          </a:p>
          <a:p xmlns:a="http://schemas.openxmlformats.org/drawingml/2006/main">
            <a:r>
              <a:t>  "server": {</a:t>
            </a:r>
          </a:p>
          <a:p xmlns:a="http://schemas.openxmlformats.org/drawingml/2006/main">
            <a:r>
              <a:t>    "version": "8.0.46",</a:t>
            </a:r>
          </a:p>
          <a:p xmlns:a="http://schemas.openxmlformats.org/drawingml/2006/main">
            <a:r>
              <a:t>    "isolation_level": "REPEATABLE-READ",</a:t>
            </a:r>
          </a:p>
          <a:p xmlns:a="http://schemas.openxmlformats.org/drawingml/2006/main">
            <a:r>
              <a:t>    "flush_at_commit": 1,</a:t>
            </a:r>
          </a:p>
          <a:p xmlns:a="http://schemas.openxmlformats.org/drawingml/2006/main">
            <a:r>
              <a:t>    "sync_binlog": 1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"engine":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"TABLE_NAME": "assignments",</a:t>
            </a:r>
          </a:p>
          <a:p xmlns:a="http://schemas.openxmlformats.org/drawingml/2006/main">
            <a:r>
              <a:t>      "ENGINE": "InnoDB"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"TABLE_NAME": "incident_audit_log",</a:t>
            </a:r>
          </a:p>
          <a:p xmlns:a="http://schemas.openxmlformats.org/drawingml/2006/main">
            <a:r>
              <a:t>      "ENGINE": "InnoDB"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"TABLE_NAME": "incidents",</a:t>
            </a:r>
          </a:p>
          <a:p xmlns:a="http://schemas.openxmlformats.org/drawingml/2006/main">
            <a:r>
              <a:t>      "ENGINE": "InnoDB"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"cleanup": {</a:t>
            </a:r>
          </a:p>
          <a:p xmlns:a="http://schemas.openxmlformats.org/drawingml/2006/main">
            <a:r>
              <a:t>    "synthetic_incidents_remaining": 0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Reproduce from repository root with .\.venv\Scripts\python.exe tmp/ppt_build/verify_acid.py. The script creates and cleans only uniquely marked synthetic rows. It never restarts a database service.</a:t>
            </a:r>
          </a:p>
          <a:p xmlns:a="http://schemas.openxmlformats.org/drawingml/2006/main">
            <a:r>
              <a:t>ACID implementation references: https://dev.mysql.com/doc/refman/8.0/en/mysql-acid.html and https://dev.mysql.com/doc/refman/8.0/en/innodb-parameters.html. NOWAIT: https://dev.mysql.com/doc/refman/8.0/en/select.html.</a:t>
            </a:r>
          </a:p>
          <a:p xmlns:a="http://schemas.openxmlformats.org/drawingml/2006/main">
            <a:r>
              <a:t>Codd original 1985 rules reprint: https://reldb.org/c/index.php/twelve-rules/. This is project-level evidence, not certification of MySQL as a fully relational DBMS. Rule 5 includes view definition and authorization in its full definition, not established here. Rule 12 requires low-level non-subversion, beyond the direct SQL check demonstrated.</a:t>
            </a:r>
          </a:p>
          <a:p xmlns:a="http://schemas.openxmlformats.org/drawingml/2006/main">
            <a:r>
              <a:t>Full runnable proof source:</a:t>
            </a:r>
          </a:p>
          <a:p xmlns:a="http://schemas.openxmlformats.org/drawingml/2006/main">
            <a:r>
              <a:t>"""Isolated live MySQL transaction demonstration for the project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Creates uniquely marked synthetic rows, checks the real transaction wrapper,</a:t>
            </a:r>
          </a:p>
          <a:p xmlns:a="http://schemas.openxmlformats.org/drawingml/2006/main">
            <a:r>
              <a:t>and deletes only rows created by this run. Never restarts database services.</a:t>
            </a:r>
          </a:p>
          <a:p xmlns:a="http://schemas.openxmlformats.org/drawingml/2006/main">
            <a:r>
              <a:t>"""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from uuid import uuid4</a:t>
            </a:r>
          </a:p>
          <a:p xmlns:a="http://schemas.openxmlformats.org/drawingml/2006/main">
            <a:r>
              <a:t>from datetime import datetime, timezone</a:t>
            </a:r>
          </a:p>
          <a:p xmlns:a="http://schemas.openxmlformats.org/drawingml/2006/main">
            <a:r>
              <a:t>import hashlib</a:t>
            </a:r>
          </a:p>
          <a:p xmlns:a="http://schemas.openxmlformats.org/drawingml/2006/main">
            <a:r>
              <a:t>import json</a:t>
            </a:r>
          </a:p>
          <a:p xmlns:a="http://schemas.openxmlformats.org/drawingml/2006/main">
            <a:r>
              <a:t>import sys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ROOT=Path(__file__).resolve().parents[2]</a:t>
            </a:r>
          </a:p>
          <a:p xmlns:a="http://schemas.openxmlformats.org/drawingml/2006/main">
            <a:r>
              <a:t>sys.path.insert(0,str(ROOT/'ml_version'))</a:t>
            </a:r>
          </a:p>
          <a:p xmlns:a="http://schemas.openxmlformats.org/drawingml/2006/main">
            <a:r>
              <a:t>from config.settings import Settings</a:t>
            </a:r>
          </a:p>
          <a:p xmlns:a="http://schemas.openxmlformats.org/drawingml/2006/main">
            <a:r>
              <a:t>from database.mysql_connection import MySQLDatabase</a:t>
            </a:r>
          </a:p>
          <a:p xmlns:a="http://schemas.openxmlformats.org/drawingml/2006/main">
            <a:r>
              <a:t>from incidents.assignment_service import AssignmentService</a:t>
            </a:r>
          </a:p>
          <a:p xmlns:a="http://schemas.openxmlformats.org/drawingml/2006/main">
            <a:r>
              <a:t>from mysql.connector import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db=MySQLDatabase(Settings.from_env(),pool_size=4)</a:t>
            </a:r>
          </a:p>
          <a:p xmlns:a="http://schemas.openxmlformats.org/drawingml/2006/main">
            <a:r>
              <a:t>source='synthetic_acid_proof_'+uuid4().hex</a:t>
            </a:r>
          </a:p>
          <a:p xmlns:a="http://schemas.openxmlformats.org/drawingml/2006/main">
            <a:r>
              <a:t>key=hashlib.sha256(source.encode()).hexdigest()</a:t>
            </a:r>
          </a:p>
          <a:p xmlns:a="http://schemas.openxmlformats.org/drawingml/2006/main">
            <a:r>
              <a:t>incident_id=analyst_id=None</a:t>
            </a:r>
          </a:p>
          <a:p xmlns:a="http://schemas.openxmlformats.org/drawingml/2006/main">
            <a:r>
              <a:t>result={'checked_at_utc':datetime.now(timezone.utc).isoformat(),'source_dataset':source,</a:t>
            </a:r>
          </a:p>
          <a:p xmlns:a="http://schemas.openxmlformats.org/drawingml/2006/main">
            <a:r>
              <a:t>        'scope':'MySQL only; synthetic fixture; no server restart or cross-store atomicity test', 'checks':{}}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 query(sql,params=()):</a:t>
            </a:r>
          </a:p>
          <a:p xmlns:a="http://schemas.openxmlformats.org/drawingml/2006/main">
            <a:r>
              <a:t>    with db.connection() as connection:</a:t>
            </a:r>
          </a:p>
          <a:p xmlns:a="http://schemas.openxmlformats.org/drawingml/2006/main">
            <a:r>
              <a:t>        cursor=connection.cursor(dictionary=True)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cursor.execute(sql,params)</a:t>
            </a:r>
          </a:p>
          <a:p xmlns:a="http://schemas.openxmlformats.org/drawingml/2006/main">
            <a:r>
              <a:t>            return cursor.fetchall()</a:t>
            </a:r>
          </a:p>
          <a:p xmlns:a="http://schemas.openxmlformats.org/drawingml/2006/main">
            <a:r>
              <a:t>        finally:</a:t>
            </a:r>
          </a:p>
          <a:p xmlns:a="http://schemas.openxmlformats.org/drawingml/2006/main">
            <a:r>
              <a:t>            connection.rollback();cursor.close()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class InjectedFailure(RuntimeError):pass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try:</a:t>
            </a:r>
          </a:p>
          <a:p xmlns:a="http://schemas.openxmlformats.org/drawingml/2006/main">
            <a:r>
              <a:t>    with db.transaction() as connection:</a:t>
            </a:r>
          </a:p>
          <a:p xmlns:a="http://schemas.openxmlformats.org/drawingml/2006/main">
            <a:r>
              <a:t>        cursor=connection.cursor()</a:t>
            </a:r>
          </a:p>
          <a:p xmlns:a="http://schemas.openxmlformats.org/drawingml/2006/main">
            <a:r>
              <a:t>        cursor.execute("SELECT category_id FROM threat_categories ORDER BY category_id LIMIT 1")</a:t>
            </a:r>
          </a:p>
          <a:p xmlns:a="http://schemas.openxmlformats.org/drawingml/2006/main">
            <a:r>
              <a:t>        category=cursor.fetchone()[0]</a:t>
            </a:r>
          </a:p>
          <a:p xmlns:a="http://schemas.openxmlformats.org/drawingml/2006/main">
            <a:r>
              <a:t>        cursor.execute("INSERT INTO analysts(name,role,team) VALUES(%s,'demonstration','synthetic ACID proof')",(source,))</a:t>
            </a:r>
          </a:p>
          <a:p xmlns:a="http://schemas.openxmlformats.org/drawingml/2006/main">
            <a:r>
              <a:t>        analyst_id=cursor.lastrowid</a:t>
            </a:r>
          </a:p>
          <a:p xmlns:a="http://schemas.openxmlformats.org/drawingml/2006/main">
            <a:r>
              <a:t>        cursor.execute("""INSERT INTO incidents(category_id,incident_time,severity,description,status,detected_by,</a:t>
            </a:r>
          </a:p>
          <a:p xmlns:a="http://schemas.openxmlformats.org/drawingml/2006/main">
            <a:r>
              <a:t>          source_dataset,detection_key) VALUES(%s,UTC_TIMESTAMP(6),'high','SYNTHETIC ACID DEMONSTRATION',</a:t>
            </a:r>
          </a:p>
          <a:p xmlns:a="http://schemas.openxmlformats.org/drawingml/2006/main">
            <a:r>
              <a:t>          'open','synthetic_acid_proof',%s,%s)""",(category,source,key))</a:t>
            </a:r>
          </a:p>
          <a:p xmlns:a="http://schemas.openxmlformats.org/drawingml/2006/main">
            <a:r>
              <a:t>        incident_id=cursor.lastrowid</a:t>
            </a:r>
          </a:p>
          <a:p xmlns:a="http://schemas.openxmlformats.org/drawingml/2006/main">
            <a:r>
              <a:t>        cursor.close()</a:t>
            </a:r>
          </a:p>
          <a:p xmlns:a="http://schemas.openxmlformats.org/drawingml/2006/main">
            <a:r>
              <a:t>    result['fixture_incident_id']=incident_id</a:t>
            </a:r>
          </a:p>
          <a:p xmlns:a="http://schemas.openxmlformats.org/drawingml/2006/main">
            <a:r>
              <a:t>    result['server']=query("SELECT @@version AS version, @@transaction_isolation AS isolation_level, @@innodb_flush_log_at_trx_commit AS flush_at_commit, @@sync_binlog AS sync_binlog")[0]</a:t>
            </a:r>
          </a:p>
          <a:p xmlns:a="http://schemas.openxmlformats.org/drawingml/2006/main">
            <a:r>
              <a:t>    engines=query("SELECT table_name,engine FROM information_schema.tables WHERE table_schema=DATABASE() AND table_name IN ('incidents','assignments','incident_audit_log')")</a:t>
            </a:r>
          </a:p>
          <a:p xmlns:a="http://schemas.openxmlformats.org/drawingml/2006/main">
            <a:r>
              <a:t>    assert len(engines)==3 and all(row['ENGINE']=='InnoDB' for row in engines)</a:t>
            </a:r>
          </a:p>
          <a:p xmlns:a="http://schemas.openxmlformats.org/drawingml/2006/main">
            <a:r>
              <a:t>    result['engine']=engines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A: real service writes a case update, assignment and audit. Inject failure</a:t>
            </a:r>
          </a:p>
          <a:p xmlns:a="http://schemas.openxmlformats.org/drawingml/2006/main">
            <a:r>
              <a:t>    # before the wrapper's commit and verify every write disappears together.</a:t>
            </a:r>
          </a:p>
          <a:p xmlns:a="http://schemas.openxmlformats.org/drawingml/2006/main">
            <a:r>
              <a:t>    from contextlib import contextmanager</a:t>
            </a:r>
          </a:p>
          <a:p xmlns:a="http://schemas.openxmlformats.org/drawingml/2006/main">
            <a:r>
              <a:t>    class FaultDatabase:</a:t>
            </a:r>
          </a:p>
          <a:p xmlns:a="http://schemas.openxmlformats.org/drawingml/2006/main">
            <a:r>
              <a:t>        @contextmanager</a:t>
            </a:r>
          </a:p>
          <a:p xmlns:a="http://schemas.openxmlformats.org/drawingml/2006/main">
            <a:r>
              <a:t>        def transaction(self):</a:t>
            </a:r>
          </a:p>
          <a:p xmlns:a="http://schemas.openxmlformats.org/drawingml/2006/main">
            <a:r>
              <a:t>            with db.transaction() as connection:</a:t>
            </a:r>
          </a:p>
          <a:p xmlns:a="http://schemas.openxmlformats.org/drawingml/2006/main">
            <a:r>
              <a:t>                yield connection</a:t>
            </a:r>
          </a:p>
          <a:p xmlns:a="http://schemas.openxmlformats.org/drawingml/2006/main">
            <a:r>
              <a:t>                raise InjectedFailure('Synthetic failure before commit')</a:t>
            </a:r>
          </a:p>
          <a:p xmlns:a="http://schemas.openxmlformats.org/drawingml/2006/main">
            <a:r>
              <a:t>    try:</a:t>
            </a:r>
          </a:p>
          <a:p xmlns:a="http://schemas.openxmlformats.org/drawingml/2006/main">
            <a:r>
              <a:t>        AssignmentService(FaultDatabase()).assign(incident_id,analyst_id,'SYNTHETIC rollback proof')</a:t>
            </a:r>
          </a:p>
          <a:p xmlns:a="http://schemas.openxmlformats.org/drawingml/2006/main">
            <a:r>
              <a:t>        raise AssertionError('Injected failure did not run')</a:t>
            </a:r>
          </a:p>
          <a:p xmlns:a="http://schemas.openxmlformats.org/drawingml/2006/main">
            <a:r>
              <a:t>    except InjectedFailure:pass</a:t>
            </a:r>
          </a:p>
          <a:p xmlns:a="http://schemas.openxmlformats.org/drawingml/2006/main">
            <a:r>
              <a:t>    state=query("SELECT status FROM incidents WHERE incident_id=%s",(incident_id,))[0]['status']</a:t>
            </a:r>
          </a:p>
          <a:p xmlns:a="http://schemas.openxmlformats.org/drawingml/2006/main">
            <a:r>
              <a:t>    assignments=query("SELECT COUNT(*) AS n FROM assignments WHERE incident_id=%s",(incident_id,))[0]['n']</a:t>
            </a:r>
          </a:p>
          <a:p xmlns:a="http://schemas.openxmlformats.org/drawingml/2006/main">
            <a:r>
              <a:t>    audits=query("SELECT COUNT(*) AS n FROM incident_audit_log WHERE incident_id=%s",(incident_id,))[0]['n']</a:t>
            </a:r>
          </a:p>
          <a:p xmlns:a="http://schemas.openxmlformats.org/drawingml/2006/main">
            <a:r>
              <a:t>    assert state=='open' and assignments==0 and audits==0</a:t>
            </a:r>
          </a:p>
          <a:p xmlns:a="http://schemas.openxmlformats.org/drawingml/2006/main">
            <a:r>
              <a:t>    result['checks']['atomicity']={'passed':True,'case_status':state,'assignments_after_rollback':assignments,'audits_after_rollback':audits}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C: exercise database constraints directly, bypassing Python validation.</a:t>
            </a:r>
          </a:p>
          <a:p xmlns:a="http://schemas.openxmlformats.org/drawingml/2006/main">
            <a:r>
              <a:t>    invalid=[('check',"UPDATE incidents SET severity='invalid' WHERE incident_id=%s",(incident_id,),3819),</a:t>
            </a:r>
          </a:p>
          <a:p xmlns:a="http://schemas.openxmlformats.org/drawingml/2006/main">
            <a:r>
              <a:t>             ('foreign_key',"INSERT INTO assignments(incident_id,analyst_id) VALUES(%s,0)",(incident_id,),1452),</a:t>
            </a:r>
          </a:p>
          <a:p xmlns:a="http://schemas.openxmlformats.org/drawingml/2006/main">
            <a:r>
              <a:t>             ('unique',"""INSERT INTO incidents(category_id,incident_time,severity,description,detected_by,source_dataset,detection_key)</a:t>
            </a:r>
          </a:p>
          <a:p xmlns:a="http://schemas.openxmlformats.org/drawingml/2006/main">
            <a:r>
              <a:t>                 VALUES(%s,UTC_TIMESTAMP(6),'high','synthetic duplicate','synthetic_acid_proof',%s,%s)""",(category,source,key),1062)]</a:t>
            </a:r>
          </a:p>
          <a:p xmlns:a="http://schemas.openxmlformats.org/drawingml/2006/main">
            <a:r>
              <a:t>    codes={}</a:t>
            </a:r>
          </a:p>
          <a:p xmlns:a="http://schemas.openxmlformats.org/drawingml/2006/main">
            <a:r>
              <a:t>    for label,sql,params,expected in invalid: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with db.transaction() as connection:</a:t>
            </a:r>
          </a:p>
          <a:p xmlns:a="http://schemas.openxmlformats.org/drawingml/2006/main">
            <a:r>
              <a:t>                cursor=connection.cursor()</a:t>
            </a:r>
          </a:p>
          <a:p xmlns:a="http://schemas.openxmlformats.org/drawingml/2006/main">
            <a:r>
              <a:t>                try:cursor.execute(sql,params)</a:t>
            </a:r>
          </a:p>
          <a:p xmlns:a="http://schemas.openxmlformats.org/drawingml/2006/main">
            <a:r>
              <a:t>                finally:cursor.close()</a:t>
            </a:r>
          </a:p>
          <a:p xmlns:a="http://schemas.openxmlformats.org/drawingml/2006/main">
            <a:r>
              <a:t>            raise AssertionError('Constraint failed to reject '+label)</a:t>
            </a:r>
          </a:p>
          <a:p xmlns:a="http://schemas.openxmlformats.org/drawingml/2006/main">
            <a:r>
              <a:t>        except Error as error:</a:t>
            </a:r>
          </a:p>
          <a:p xmlns:a="http://schemas.openxmlformats.org/drawingml/2006/main">
            <a:r>
              <a:t>            assert error.errno in ({1216,1452} if label=='foreign_key' else {expected}),(label,error.errno)</a:t>
            </a:r>
          </a:p>
          <a:p xmlns:a="http://schemas.openxmlformats.org/drawingml/2006/main">
            <a:r>
              <a:t>            codes[label]=error.errno</a:t>
            </a:r>
          </a:p>
          <a:p xmlns:a="http://schemas.openxmlformats.org/drawingml/2006/main">
            <a:r>
              <a:t>    result['checks']['consistency']={'passed':True,'rejected_error_codes':codes}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I: a second real connection cannot see uncommitted state or acquire its lock.</a:t>
            </a:r>
          </a:p>
          <a:p xmlns:a="http://schemas.openxmlformats.org/drawingml/2006/main">
            <a:r>
              <a:t>    with db.connection() as first,db.connection() as second:</a:t>
            </a:r>
          </a:p>
          <a:p xmlns:a="http://schemas.openxmlformats.org/drawingml/2006/main">
            <a:r>
              <a:t>        first.start_transaction();second.start_transaction()</a:t>
            </a:r>
          </a:p>
          <a:p xmlns:a="http://schemas.openxmlformats.org/drawingml/2006/main">
            <a:r>
              <a:t>        c1=first.cursor();c2=second.cursor()</a:t>
            </a:r>
          </a:p>
          <a:p xmlns:a="http://schemas.openxmlformats.org/drawingml/2006/main">
            <a:r>
              <a:t>        try:</a:t>
            </a:r>
          </a:p>
          <a:p xmlns:a="http://schemas.openxmlformats.org/drawingml/2006/main">
            <a:r>
              <a:t>            c1.execute("UPDATE incidents SET status='assigned' WHERE incident_id=%s",(incident_id,))</a:t>
            </a:r>
          </a:p>
          <a:p xmlns:a="http://schemas.openxmlformats.org/drawingml/2006/main">
            <a:r>
              <a:t>            c2.execute("SELECT status FROM incidents WHERE incident_id=%s",(incident_id,))</a:t>
            </a:r>
          </a:p>
          <a:p xmlns:a="http://schemas.openxmlformats.org/drawingml/2006/main">
            <a:r>
              <a:t>            reader=c2.fetchone()[0]</a:t>
            </a:r>
          </a:p>
          <a:p xmlns:a="http://schemas.openxmlformats.org/drawingml/2006/main">
            <a:r>
              <a:t>            assert reader=='open'</a:t>
            </a:r>
          </a:p>
          <a:p xmlns:a="http://schemas.openxmlformats.org/drawingml/2006/main">
            <a:r>
              <a:t>            try:</a:t>
            </a:r>
          </a:p>
          <a:p xmlns:a="http://schemas.openxmlformats.org/drawingml/2006/main">
            <a:r>
              <a:t>                c2.execute("SELECT status FROM incidents WHERE incident_id=%s FOR UPDATE NOWAIT",(incident_id,))</a:t>
            </a:r>
          </a:p>
          <a:p xmlns:a="http://schemas.openxmlformats.org/drawingml/2006/main">
            <a:r>
              <a:t>                c2.fetchall()</a:t>
            </a:r>
          </a:p>
          <a:p xmlns:a="http://schemas.openxmlformats.org/drawingml/2006/main">
            <a:r>
              <a:t>                raise AssertionError('Second writer unexpectedly acquired lock')</a:t>
            </a:r>
          </a:p>
          <a:p xmlns:a="http://schemas.openxmlformats.org/drawingml/2006/main">
            <a:r>
              <a:t>            except Error as error:</a:t>
            </a:r>
          </a:p>
          <a:p xmlns:a="http://schemas.openxmlformats.org/drawingml/2006/main">
            <a:r>
              <a:t>                assert error.errno==3572,error.errno</a:t>
            </a:r>
          </a:p>
          <a:p xmlns:a="http://schemas.openxmlformats.org/drawingml/2006/main">
            <a:r>
              <a:t>                lock_code=error.errno</a:t>
            </a:r>
          </a:p>
          <a:p xmlns:a="http://schemas.openxmlformats.org/drawingml/2006/main">
            <a:r>
              <a:t>        finally:</a:t>
            </a:r>
          </a:p>
          <a:p xmlns:a="http://schemas.openxmlformats.org/drawingml/2006/main">
            <a:r>
              <a:t>            second.rollback();first.rollback();c1.close();c2.close()</a:t>
            </a:r>
          </a:p>
          <a:p xmlns:a="http://schemas.openxmlformats.org/drawingml/2006/main">
            <a:r>
              <a:t>    result['checks']['isolation']={'passed':True,'second_session_read':reader,'conflicting_lock_error':lock_code}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# D: commit through the actual service, close the connection, reconnect and read.</a:t>
            </a:r>
          </a:p>
          <a:p xmlns:a="http://schemas.openxmlformats.org/drawingml/2006/main">
            <a:r>
              <a:t>    assignment_id=AssignmentService(db).assign(incident_id,analyst_id,'SYNTHETIC commit proof')</a:t>
            </a:r>
          </a:p>
          <a:p xmlns:a="http://schemas.openxmlformats.org/drawingml/2006/main">
            <a:r>
              <a:t>    committed=query("SELECT status FROM incidents WHERE incident_id=%s",(incident_id,))[0]['status']</a:t>
            </a:r>
          </a:p>
          <a:p xmlns:a="http://schemas.openxmlformats.org/drawingml/2006/main">
            <a:r>
              <a:t>    assignment=query("SELECT COUNT(*) AS n FROM assignments WHERE incident_id=%s",(incident_id,))[0]['n']</a:t>
            </a:r>
          </a:p>
          <a:p xmlns:a="http://schemas.openxmlformats.org/drawingml/2006/main">
            <a:r>
              <a:t>    audit=query("SELECT COUNT(*) AS n FROM incident_audit_log WHERE incident_id=%s",(incident_id,))[0]['n']</a:t>
            </a:r>
          </a:p>
          <a:p xmlns:a="http://schemas.openxmlformats.org/drawingml/2006/main">
            <a:r>
              <a:t>    assert committed=='assigned' and assignment==1 and audit==1</a:t>
            </a:r>
          </a:p>
          <a:p xmlns:a="http://schemas.openxmlformats.org/drawingml/2006/main">
            <a:r>
              <a:t>    result['checks']['durability']={'passed':True,'new_connection_status':committed,'assignment_count':assignment,</a:t>
            </a:r>
          </a:p>
          <a:p xmlns:a="http://schemas.openxmlformats.org/drawingml/2006/main">
            <a:r>
              <a:t>        'audit_count':audit,'flush_at_commit':result['server']['flush_at_commit'],</a:t>
            </a:r>
          </a:p>
          <a:p xmlns:a="http://schemas.openxmlformats.org/drawingml/2006/main">
            <a:r>
              <a:t>        'limit':'Commit survives connection close and reopen. Crash/power-loss recovery was not tested.'}</a:t>
            </a:r>
          </a:p>
          <a:p xmlns:a="http://schemas.openxmlformats.org/drawingml/2006/main">
            <a:r>
              <a:t>    result['checks']['codd_evidence']={'pk_access':len(query("SELECT severity FROM incidents WHERE incident_id=%s",(incident_id,)))==1,</a:t>
            </a:r>
          </a:p>
          <a:p xmlns:a="http://schemas.openxmlformats.org/drawingml/2006/main">
            <a:r>
              <a:t>        'systematic_nulls':query("SELECT user_id IS NULL AS unknown_user,system_id IS NULL AS unknown_system FROM incidents WHERE incident_id=%s",(incident_id,))[0],</a:t>
            </a:r>
          </a:p>
          <a:p xmlns:a="http://schemas.openxmlformats.org/drawingml/2006/main">
            <a:r>
              <a:t>        'catalog_relations':len(engines),'constraints_independent_of_python':codes}</a:t>
            </a:r>
          </a:p>
          <a:p xmlns:a="http://schemas.openxmlformats.org/drawingml/2006/main">
            <a:r>
              <a:t>finally:</a:t>
            </a:r>
          </a:p>
          <a:p xmlns:a="http://schemas.openxmlformats.org/drawingml/2006/main">
            <a:r>
              <a:t>    if incident_id is not None or analyst_id is not None:</a:t>
            </a:r>
          </a:p>
          <a:p xmlns:a="http://schemas.openxmlformats.org/drawingml/2006/main">
            <a:r>
              <a:t>        with db.transaction() as connection:</a:t>
            </a:r>
          </a:p>
          <a:p xmlns:a="http://schemas.openxmlformats.org/drawingml/2006/main">
            <a:r>
              <a:t>            cursor=connection.cursor()</a:t>
            </a:r>
          </a:p>
          <a:p xmlns:a="http://schemas.openxmlformats.org/drawingml/2006/main">
            <a:r>
              <a:t>            if incident_id is not None:</a:t>
            </a:r>
          </a:p>
          <a:p xmlns:a="http://schemas.openxmlformats.org/drawingml/2006/main">
            <a:r>
              <a:t>                cursor.execute("DELETE FROM incidents WHERE incident_id=%s AND source_dataset=%s",(incident_id,source))</a:t>
            </a:r>
          </a:p>
          <a:p xmlns:a="http://schemas.openxmlformats.org/drawingml/2006/main">
            <a:r>
              <a:t>            if analyst_id is not None:</a:t>
            </a:r>
          </a:p>
          <a:p xmlns:a="http://schemas.openxmlformats.org/drawingml/2006/main">
            <a:r>
              <a:t>                cursor.execute("DELETE FROM analysts WHERE analyst_id=%s AND name=%s",(analyst_id,source))</a:t>
            </a:r>
          </a:p>
          <a:p xmlns:a="http://schemas.openxmlformats.org/drawingml/2006/main">
            <a:r>
              <a:t>            cursor.close()</a:t>
            </a:r>
          </a:p>
          <a:p xmlns:a="http://schemas.openxmlformats.org/drawingml/2006/main">
            <a:r>
              <a:t>    leftovers=query("SELECT COUNT(*) AS n FROM incidents WHERE source_dataset=%s",(source,))[0]['n']</a:t>
            </a:r>
          </a:p>
          <a:p xmlns:a="http://schemas.openxmlformats.org/drawingml/2006/main">
            <a:r>
              <a:t>    result['cleanup']={'synthetic_incidents_remaining':leftovers}</a:t>
            </a:r>
          </a:p>
          <a:p xmlns:a="http://schemas.openxmlformats.org/drawingml/2006/main">
            <a:r>
              <a:t>    assert leftovers==0</a:t>
            </a:r>
          </a:p>
          <a:p xmlns:a="http://schemas.openxmlformats.org/drawingml/2006/main">
            <a:r>
              <a:t>    (ROOT/'tmp/ppt_build/acid_evidence.json').write_text(json.dumps(result,indent=2,default=str))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print(json.dumps(result,indent=2,default=str))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Template-aligned evidence retains all 13 Codd rules. Durability verification is reconnect persistence, not a crash/power-loss test. ACID applies to the demonstrated MySQL transaction, not the complete two-store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README.md; docs/RUBRIC_MAPPING.md; report conclusion.</a:t>
            </a:r>
          </a:p>
          <a:p xmlns:a="http://schemas.openxmlformats.org/drawingml/2006/main">
            <a:r>
              <a:t>Evaluation evidence spans functionality, Python, SQL/NoSQL integration, advanced retrieval, documentation/UI, testing and error handling. No grade or full production readiness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report references.</a:t>
            </a:r>
          </a:p>
          <a:p xmlns:a="http://schemas.openxmlformats.org/drawingml/2006/main">
            <a:r>
              <a:t>[1] https://github.com/DereFX/cybersecurity-incident-monitoring-dashboard</a:t>
            </a:r>
          </a:p>
          <a:p xmlns:a="http://schemas.openxmlformats.org/drawingml/2006/main">
            <a:r>
              <a:t>[2] https://dev.mysql.com/doc/refman/8.0/en/mysql-acid.html</a:t>
            </a:r>
          </a:p>
          <a:p xmlns:a="http://schemas.openxmlformats.org/drawingml/2006/main">
            <a:r>
              <a:t>[3] https://www.mongodb.com/docs/manual/data-modeling/ and https://www.mongodb.com/docs/manual/aggregation/</a:t>
            </a:r>
          </a:p>
          <a:p xmlns:a="http://schemas.openxmlformats.org/drawingml/2006/main">
            <a:r>
              <a:t>[4] https://scikit-learn.org/stable/modules/generated/sklearn.ensemble.RandomForestClassifier.html</a:t>
            </a:r>
          </a:p>
          <a:p xmlns:a="http://schemas.openxmlformats.org/drawingml/2006/main">
            <a:r>
              <a:t>[5] https://reldb.org/c/index.php/twelve-rules/</a:t>
            </a:r>
          </a:p>
          <a:p xmlns:a="http://schemas.openxmlformats.org/drawingml/2006/main">
            <a:r>
              <a:t>Additional implementation reference: https://docs.streamlit.io/. Dataset use refers to the supplied archive, not a claim of newly downloaded Kaggle or official UNSW benchmark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https://github.com/DereFX/cybersecurity-incident-monitoring-dashboard (commit 4bee733).</a:t>
            </a:r>
          </a:p>
          <a:p xmlns:a="http://schemas.openxmlformats.org/drawingml/2006/main">
            <a:r>
              <a:t>Source files: supplied DCDS ESE presentation template.</a:t>
            </a:r>
          </a:p>
          <a:p xmlns:a="http://schemas.openxmlformats.org/drawingml/2006/main">
            <a:r>
              <a:t>This is an action checklist. Moodle uploads, guide details and team rehearsal are not verified as completed. No upload action has been taken. Suggested pacing: 30 seconds cover, 60 seconds problem/objectives, 80 seconds architecture/stack, 90 seconds database design, 70 seconds SQL/MongoDB, 60 seconds demo, 90 seconds testing/ACID-Codd, 20 seconds close, leaving one minute for live transitions.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417e8b78747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f64208b0841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b2f5f20984a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d603e228c48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7a907bd1c46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727a52a4742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147ae24d94f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ecef0acff4b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8d93b0a6a43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f991032fb4a9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34af670304e8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009506-0826-45FC-A69A-5E30C52E3DC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5778FBE-DC9E-4F80-97E6-61C66192A7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736751-4825-42C2-A8F3-738A6EF775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4E67A2-1816-4542-BE96-A14B78CBF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863C40-F621-4181-9D6A-94C2FF49A2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FC8229-660A-4F8E-A405-10BF2E1DB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D16BB3-1A9B-4BF4-A925-E4DDB22E62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483855-1664-4B2E-9F09-643BA8DCE0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8BFE97-E55E-4133-9B26-A0F6A3B0D7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54A3C3-E999-4383-9211-A1B188C5E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6DCBAE-3758-419C-8692-08CD37602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1E0060-71CB-4892-8AC8-CBB8C50820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395E4F-B80C-4C97-8DBD-28C25CF3EA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3F86A9-A973-42B1-B549-86B139E6CD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397C8A-9819-4881-99CE-09374830E1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436EA9-3F00-4603-8A37-D9B463028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B79E12-E147-4EB5-9D4F-21BED1A4DD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E730ECF-1E9A-41FF-8B67-71B1F275C7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3A52048-7885-4A6B-BC1C-FFBA3991E5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281E42-8A36-49C8-B205-6B08101D54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C4E6E3-CFF5-4EF2-B467-F9425C2D7E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9C2DBA-D40E-4106-A4A1-E18F199CF6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D34836-E2EF-41EB-A601-5F5DFACFAF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6631D5E-F78D-43F4-AA77-F922FF62CD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176C49B-2A06-4189-82FC-63E2CDBFC0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36A4459-8259-4512-9CFD-6EC84EF7CB2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02AA71C-9064-4E58-A60F-4902A9BB22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86BB6E-810D-4E31-A9BA-4E19C5011B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D0C56A-B6C5-4722-AC77-DF6E91F117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D335C9-51BE-4DCF-8A76-844B62C461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A8030EB-18B2-4675-BBBB-64A44D545B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054B50-F2BE-4048-AB07-CC12B22520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B4985C2-5A97-4BCD-BE05-C65C37D8C6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BC8B035-B1C4-466C-B332-B91084175F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2F23E1C-8F8D-43DF-A43B-94967688B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BD32591-55F7-450D-B8A2-BED0D83DE7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D49819-D07B-40D3-A317-A585AB6A8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EEDB47-2630-454F-AC72-3D25BA98C2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9A0416C-3488-4F31-8288-18FCAE20D5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444CF9-69C5-47A9-A129-B45FF63017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F471947-9168-4107-BA92-41BE283FB5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D2B4B9-8A62-4517-B34F-F2C3A381A3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F74CA4-EB9B-42AC-A5EA-56356B7F3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E85CA19-EB41-46A8-A471-FEAA716F0E1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2CF5655-C80D-48C3-B967-BC49073638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7FD0AE5-DA4B-440D-8FC8-134349D7B0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012CDC4-35DD-4AD6-A3F1-C68D2D6735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D7209F-7E28-43A1-A108-7A9D1F2B94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2B3594-FDD0-44FB-BEF7-B0E301FE8D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5A284F-E0F1-40E5-9838-528E972700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82C54D-F76B-4DE4-8921-9D71E076E1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16E335-E53D-43DF-A13C-F619E73D7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3FE76D-381C-45E2-BC15-06A3824A2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F1F65F3-FAAC-4BDC-8798-6FBEA95768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EE9462-3A81-49FE-BF3F-547484BB9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267365-E718-4113-8BBE-A89E60B300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41AF8C-4B97-4A10-BFA6-7AD7D76EB0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B95312-2505-47B2-AB40-61D1170229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10cbfd71e24311" /><Relationship Type="http://schemas.openxmlformats.org/officeDocument/2006/relationships/slideLayout" Target="/ppt/slideLayouts/slideLayout1.xml" Id="R4048c3b7ce5e4f86" /><Relationship Type="http://schemas.openxmlformats.org/officeDocument/2006/relationships/slideLayout" Target="/ppt/slideLayouts/slideLayout2.xml" Id="Rca71c5bbe6df475a" /><Relationship Type="http://schemas.openxmlformats.org/officeDocument/2006/relationships/slideLayout" Target="/ppt/slideLayouts/slideLayout3.xml" Id="R1b196889026c4443" /><Relationship Type="http://schemas.openxmlformats.org/officeDocument/2006/relationships/slideLayout" Target="/ppt/slideLayouts/slideLayout4.xml" Id="Rc1d753ffe1764f9c" /><Relationship Type="http://schemas.openxmlformats.org/officeDocument/2006/relationships/slideLayout" Target="/ppt/slideLayouts/slideLayout5.xml" Id="Ra4b477daaeed4679" /><Relationship Type="http://schemas.openxmlformats.org/officeDocument/2006/relationships/slideLayout" Target="/ppt/slideLayouts/slideLayout6.xml" Id="Rde62081be83e472c" /><Relationship Type="http://schemas.openxmlformats.org/officeDocument/2006/relationships/slideLayout" Target="/ppt/slideLayouts/slideLayout7.xml" Id="Ra2efb8f4eb124c62" /><Relationship Type="http://schemas.openxmlformats.org/officeDocument/2006/relationships/slideLayout" Target="/ppt/slideLayouts/slideLayout8.xml" Id="Raacf168206df4cc2" /><Relationship Type="http://schemas.openxmlformats.org/officeDocument/2006/relationships/slideLayout" Target="/ppt/slideLayouts/slideLayout9.xml" Id="Rd0b6a4d64a564cd1" /><Relationship Type="http://schemas.openxmlformats.org/officeDocument/2006/relationships/slideLayout" Target="/ppt/slideLayouts/slideLayout10.xml" Id="Rd904846152254ba5" /><Relationship Type="http://schemas.openxmlformats.org/officeDocument/2006/relationships/slideLayout" Target="/ppt/slideLayouts/slideLayout11.xml" Id="Rdd25e69ad4cc45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FF3105-9331-4EA6-8CF7-8C79EEF38B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E98D7F-9D29-4698-9BCF-FEE1E1D9A1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3FBA4B-69EE-474D-AD8B-0179180E8F5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9BCD0D-80CC-433B-BB61-E000EC34B8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6D4CD1-5A0B-4F28-8989-17CF48839F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8c3b7ce5e4f86"/>
    <p:sldLayoutId xmlns:r="http://schemas.openxmlformats.org/officeDocument/2006/relationships" id="2147483650" r:id="Rca71c5bbe6df475a"/>
    <p:sldLayoutId xmlns:r="http://schemas.openxmlformats.org/officeDocument/2006/relationships" id="2147483651" r:id="R1b196889026c4443"/>
    <p:sldLayoutId xmlns:r="http://schemas.openxmlformats.org/officeDocument/2006/relationships" id="2147483652" r:id="Rc1d753ffe1764f9c"/>
    <p:sldLayoutId xmlns:r="http://schemas.openxmlformats.org/officeDocument/2006/relationships" id="2147483653" r:id="Ra4b477daaeed4679"/>
    <p:sldLayoutId xmlns:r="http://schemas.openxmlformats.org/officeDocument/2006/relationships" id="2147483654" r:id="Rde62081be83e472c"/>
    <p:sldLayoutId xmlns:r="http://schemas.openxmlformats.org/officeDocument/2006/relationships" id="2147483655" r:id="Ra2efb8f4eb124c62"/>
    <p:sldLayoutId xmlns:r="http://schemas.openxmlformats.org/officeDocument/2006/relationships" id="2147483656" r:id="Raacf168206df4cc2"/>
    <p:sldLayoutId xmlns:r="http://schemas.openxmlformats.org/officeDocument/2006/relationships" id="2147483657" r:id="Rd0b6a4d64a564cd1"/>
    <p:sldLayoutId xmlns:r="http://schemas.openxmlformats.org/officeDocument/2006/relationships" id="2147483658" r:id="Rd904846152254ba5"/>
    <p:sldLayoutId xmlns:r="http://schemas.openxmlformats.org/officeDocument/2006/relationships" id="2147483659" r:id="Rdd25e69ad4cc45c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25d85b7edd496f" /><Relationship Type="http://schemas.openxmlformats.org/officeDocument/2006/relationships/notesSlide" Target="/ppt/notesSlides/notesSlide1.xml" Id="R49c9f92f537044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de03803f584788" /><Relationship Type="http://schemas.openxmlformats.org/officeDocument/2006/relationships/notesSlide" Target="/ppt/notesSlides/notesSlide2.xml" Id="R3a74882fa5bb46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65d2c34ba84ec1" /><Relationship Type="http://schemas.openxmlformats.org/officeDocument/2006/relationships/notesSlide" Target="/ppt/notesSlides/notesSlide3.xml" Id="R8d2a88affb084b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897203a90d41c8" /><Relationship Type="http://schemas.openxmlformats.org/officeDocument/2006/relationships/notesSlide" Target="/ppt/notesSlides/notesSlide4.xml" Id="R065ae0ce33b744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27e14bd5ae4fce" /><Relationship Type="http://schemas.openxmlformats.org/officeDocument/2006/relationships/notesSlide" Target="/ppt/notesSlides/notesSlide5.xml" Id="R28f6790d2676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53ffcf34554cf6" /><Relationship Type="http://schemas.openxmlformats.org/officeDocument/2006/relationships/notesSlide" Target="/ppt/notesSlides/notesSlide6.xml" Id="Reb24f920ae2140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bf1c679c224dc2" /><Relationship Type="http://schemas.openxmlformats.org/officeDocument/2006/relationships/notesSlide" Target="/ppt/notesSlides/notesSlide7.xml" Id="R598f5da2441943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6ee2e057f5478a" /><Relationship Type="http://schemas.openxmlformats.org/officeDocument/2006/relationships/notesSlide" Target="/ppt/notesSlides/notesSlide8.xml" Id="R1de1b417d8494f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db51372e447dc" /><Relationship Type="http://schemas.openxmlformats.org/officeDocument/2006/relationships/notesSlide" Target="/ppt/notesSlides/notesSlide9.xml" Id="Rd24ad912178946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4c382b62044a85" /><Relationship Type="http://schemas.openxmlformats.org/officeDocument/2006/relationships/image" Target="/ppt/media/image.jpeg" Id="Re4b596b945994bb8" /><Relationship Type="http://schemas.openxmlformats.org/officeDocument/2006/relationships/notesSlide" Target="/ppt/notesSlides/notesSlide10.xml" Id="Rb15ac33b8ad3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f0dfabd0fb4a12" /><Relationship Type="http://schemas.openxmlformats.org/officeDocument/2006/relationships/notesSlide" Target="/ppt/notesSlides/notesSlide11.xml" Id="R0ad4e778678d4d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9bc801851b480c" /><Relationship Type="http://schemas.openxmlformats.org/officeDocument/2006/relationships/notesSlide" Target="/ppt/notesSlides/notesSlide12.xml" Id="R857ab0ddc6424d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957716831e4dfc" /><Relationship Type="http://schemas.openxmlformats.org/officeDocument/2006/relationships/notesSlide" Target="/ppt/notesSlides/notesSlide13.xml" Id="R7e74d4bbc77c4c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fc38f5f2744523" /><Relationship Type="http://schemas.openxmlformats.org/officeDocument/2006/relationships/notesSlide" Target="/ppt/notesSlides/notesSlide14.xml" Id="Rb4eefc47a9614d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12407ed8b0483f" /><Relationship Type="http://schemas.openxmlformats.org/officeDocument/2006/relationships/notesSlide" Target="/ppt/notesSlides/notesSlide15.xml" Id="R51fab1efe63d44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D8913B-274D-42E6-B1DC-09FE14C6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850EE3-89C6-4A99-A1F4-09067572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14400"/>
            <a:ext cx="106984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DCDS ESE PROJECT PRESENTATION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7A6FA21-B831-4AEC-9B8E-0B11BE0F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32720" cy="847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008080"/>
                </a:solidFill>
                <a:latin typeface="Calibri"/>
                <a:ea typeface="Calibri"/>
                <a:cs typeface="Calibri"/>
              </a:rPr>
              <a:t>Cybersecurity Incident Monitoring &amp;</a:t>
            </a:r>
          </a:p>
          <a:p xmlns:a="http://schemas.openxmlformats.org/drawingml/2006/main">
            <a:pPr algn="ctr">
              <a:buNone/>
              <a:defRPr sz="2600" b="1">
                <a:solidFill>
                  <a:srgbClr val="008080"/>
                </a:solidFill>
                <a:latin typeface="Calibri"/>
                <a:ea typeface="Calibri"/>
                <a:cs typeface="Calibri"/>
              </a:defRPr>
            </a:pPr>
            <a:r>
              <a:rPr sz="2600" b="1">
                <a:solidFill>
                  <a:srgbClr val="008080"/>
                </a:solidFill>
                <a:latin typeface="Calibri"/>
                <a:ea typeface="Calibri"/>
                <a:cs typeface="Calibri"/>
              </a:rPr>
              <a:t>Threat Analytics Dashboard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855899A-AC5A-4F0D-965D-F64E8575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28950"/>
            <a:ext cx="10515600" cy="3154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09728" rIns="109728" bIns="109728">
            <a:noAutofit/>
          </a:bodyPr>
          <a:lstStyle xmlns:a="http://schemas.openxmlformats.org/drawingml/2006/main">
            <a:def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spcAft>
                <a:spcPts val="1500"/>
              </a:spcAft>
              <a:buNone/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Course: DCDS – ESE Project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SY Division: to be filled     Group No.: to be filled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Adwaiy Gupta      25070126018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Aashi Agrawala    25070126003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Adrika Gupta      25070126016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Aditi Chitnis         25070126012</a:t>
            </a:r>
          </a:p>
          <a:p xmlns:a="http://schemas.openxmlformats.org/drawingml/2006/main">
            <a:pPr>
              <a:spcAft>
                <a:spcPts val="1500"/>
              </a:spcAft>
              <a:buNone/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Faculty Guide: to be filled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77CE65-CB27-4931-9B0A-D7AA47F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1</a:t>
            </a:r>
          </a:p>
        </p:txBody>
      </p:sp>
    </p:spTree>
    <p:extLst>
      <p:ext uri="{BB962C8B-B14F-4D97-AF65-F5344CB8AC3E}">
        <p14:creationId xmlns:p14="http://schemas.microsoft.com/office/powerpoint/2010/main" val="962706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BEC5584-1553-4EA9-BA15-653239A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Problem Statement &amp; Motivation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89B7B7-2532-4AF0-8584-CE388B0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5CC62C9-2CDD-42FC-84E6-E8AA5A81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515600" cy="2013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09728" rIns="109728" bIns="109728">
            <a:noAutofit/>
          </a:bodyPr>
          <a:lstStyle xmlns:a="http://schemas.openxmlformats.org/drawingml/2006/main">
            <a:def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505A64"/>
                </a:solidFill>
                <a:latin typeface="Aptos"/>
                <a:ea typeface="Aptos"/>
                <a:cs typeface="Aptos"/>
              </a:rPr>
              <a:t>At the start of a cyber-office shift, analysts receive separate login and network CSV exports. Suspicious activity can remain buried among routine events.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505A64"/>
                </a:solidFill>
                <a:latin typeface="Aptos"/>
                <a:ea typeface="Aptos"/>
                <a:cs typeface="Aptos"/>
              </a:rPr>
              <a:t>Manual checks make it difficult to connect evidence to a case, avoid duplicate investigations and identify who owns the response.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1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100">
                <a:solidFill>
                  <a:srgbClr val="505A64"/>
                </a:solidFill>
                <a:latin typeface="Aptos"/>
                <a:ea typeface="Aptos"/>
                <a:cs typeface="Aptos"/>
              </a:rPr>
              <a:t>This project gives SOC analysts and supervisors a traceable workflow from imported evidence to an assigned and resolved incident.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252FAF-307C-45C2-88E3-B4A03FE1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2</a:t>
            </a:r>
          </a:p>
        </p:txBody>
      </p:sp>
    </p:spTree>
    <p:extLst>
      <p:ext uri="{BB962C8B-B14F-4D97-AF65-F5344CB8AC3E}">
        <p14:creationId xmlns:p14="http://schemas.microsoft.com/office/powerpoint/2010/main" val="1653192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0231C8-BFDE-40CA-AE9E-C0FEA0A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Objectives &amp; Scope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7322AF-4556-4F08-81C4-2A6B6A4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4A07B5-AD49-4012-A727-3FA34A8B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515600" cy="2773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09728" rIns="109728" bIns="109728">
            <a:noAutofit/>
          </a:bodyPr>
          <a:lstStyle xmlns:a="http://schemas.openxmlformats.org/drawingml/2006/main">
            <a:def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Objectives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1. Validate CSV records and preserve their source provenance.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2. Store event evidence in MongoDB and operational cases in MySQL.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3. Detect suspicious activity and prevent duplicate incidents.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4. Persist analyst assignments, responses and resolution history.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5. Explore results through dashboards and database queries.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Scope: batch CSV analysis with authentication rules and a network model. Supplied development data represents separate environments.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95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05A64"/>
                </a:solidFill>
                <a:latin typeface="Aptos"/>
                <a:ea typeface="Aptos"/>
                <a:cs typeface="Aptos"/>
              </a:rPr>
              <a:t>SDG 9: resilient digital infrastructure. SDG 16: accountable incident handling.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30799C5-01E1-423F-AD03-FFC9838D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3</a:t>
            </a:r>
          </a:p>
        </p:txBody>
      </p:sp>
    </p:spTree>
    <p:extLst>
      <p:ext uri="{BB962C8B-B14F-4D97-AF65-F5344CB8AC3E}">
        <p14:creationId xmlns:p14="http://schemas.microsoft.com/office/powerpoint/2010/main" val="652607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323DC15-B91E-4D49-AD48-6EC7AE85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System Overview / Proposed Solution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8A630B3-36D6-4772-A874-720F7C2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96D1F4-2B35-4B4F-8EF1-3D6B6D3B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4</a:t>
            </a:r>
          </a:p>
        </p:txBody>
      </p:sp>
      <p:sp>
        <p:nvSpPr>
          <p:cNvPr id="6" name="Python coordinates ingestion, detection and incident response.">
            <a:extLst xmlns:a="http://schemas.openxmlformats.org/drawingml/2006/main">
              <a:ext uri="{FF2B5EF4-FFF2-40B4-BE49-F238E27FC236}">
                <a16:creationId xmlns:a16="http://schemas.microsoft.com/office/drawing/2014/main" id="{5AA59318-3CB7-45EC-BF94-8EEE16D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Python coordinates ingestion, detection and incident response.</a:t>
            </a:r>
          </a:p>
        </p:txBody>
      </p:sp>
      <p:sp>
        <p:nvSpPr>
          <p:cNvPr id="7" name="CSV files">
            <a:extLst xmlns:a="http://schemas.openxmlformats.org/drawingml/2006/main">
              <a:ext uri="{FF2B5EF4-FFF2-40B4-BE49-F238E27FC236}">
                <a16:creationId xmlns:a16="http://schemas.microsoft.com/office/drawing/2014/main" id="{B1A6B94F-7012-40C3-8A62-FAAC42B9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CSV files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Source provenance</a:t>
            </a:r>
          </a:p>
        </p:txBody>
      </p:sp>
      <p:sp>
        <p:nvSpPr>
          <p:cNvPr id="8" name="Python ETL">
            <a:extLst xmlns:a="http://schemas.openxmlformats.org/drawingml/2006/main">
              <a:ext uri="{FF2B5EF4-FFF2-40B4-BE49-F238E27FC236}">
                <a16:creationId xmlns:a16="http://schemas.microsoft.com/office/drawing/2014/main" id="{821C5BBD-6CCC-4993-B39C-F0A744A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955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Python ETL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Validate and normalise</a:t>
            </a:r>
          </a:p>
        </p:txBody>
      </p:sp>
      <p:sp>
        <p:nvSpPr>
          <p:cNvPr id="9" name="MongoDB">
            <a:extLst xmlns:a="http://schemas.openxmlformats.org/drawingml/2006/main">
              <a:ext uri="{FF2B5EF4-FFF2-40B4-BE49-F238E27FC236}">
                <a16:creationId xmlns:a16="http://schemas.microsoft.com/office/drawing/2014/main" id="{75C73A8F-EA44-4AA6-9144-EC14AD13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MongoDB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Events and raw evidence</a:t>
            </a:r>
          </a:p>
        </p:txBody>
      </p:sp>
      <p:sp>
        <p:nvSpPr>
          <p:cNvPr id="10" name="Detection">
            <a:extLst xmlns:a="http://schemas.openxmlformats.org/drawingml/2006/main">
              <a:ext uri="{FF2B5EF4-FFF2-40B4-BE49-F238E27FC236}">
                <a16:creationId xmlns:a16="http://schemas.microsoft.com/office/drawing/2014/main" id="{47E7425E-484B-4A54-9138-D97E5E2C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Detection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Rules / network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99DD7-BD98-433C-8658-84425938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81325"/>
            <a:ext cx="685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12" name="›">
            <a:extLst xmlns:a="http://schemas.openxmlformats.org/drawingml/2006/main">
              <a:ext uri="{FF2B5EF4-FFF2-40B4-BE49-F238E27FC236}">
                <a16:creationId xmlns:a16="http://schemas.microsoft.com/office/drawing/2014/main" id="{F9321978-3F13-4974-8303-4663A995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08080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EF958-2C83-4001-830F-94258BE0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81325"/>
            <a:ext cx="685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14" name="›">
            <a:extLst xmlns:a="http://schemas.openxmlformats.org/drawingml/2006/main">
              <a:ext uri="{FF2B5EF4-FFF2-40B4-BE49-F238E27FC236}">
                <a16:creationId xmlns:a16="http://schemas.microsoft.com/office/drawing/2014/main" id="{D0D412BE-F1F3-4027-8042-740BB36B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08080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D5D1F-87C8-4AAC-8658-53F81927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81325"/>
            <a:ext cx="685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16" name="›">
            <a:extLst xmlns:a="http://schemas.openxmlformats.org/drawingml/2006/main">
              <a:ext uri="{FF2B5EF4-FFF2-40B4-BE49-F238E27FC236}">
                <a16:creationId xmlns:a16="http://schemas.microsoft.com/office/drawing/2014/main" id="{ED9B02C1-9704-4993-AF95-09019E5D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08080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6CBD7-2158-46F1-A1C5-69704100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86150"/>
            <a:ext cx="1333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18" name="MySQL cases">
            <a:extLst xmlns:a="http://schemas.openxmlformats.org/drawingml/2006/main">
              <a:ext uri="{FF2B5EF4-FFF2-40B4-BE49-F238E27FC236}">
                <a16:creationId xmlns:a16="http://schemas.microsoft.com/office/drawing/2014/main" id="{C5E725A9-2A81-4A76-A81F-0BE18B4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00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MySQL cases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Incidents and audit history</a:t>
            </a:r>
          </a:p>
        </p:txBody>
      </p:sp>
      <p:sp>
        <p:nvSpPr>
          <p:cNvPr id="19" name="Analyst response">
            <a:extLst xmlns:a="http://schemas.openxmlformats.org/drawingml/2006/main">
              <a:ext uri="{FF2B5EF4-FFF2-40B4-BE49-F238E27FC236}">
                <a16:creationId xmlns:a16="http://schemas.microsoft.com/office/drawing/2014/main" id="{25297E3D-9D4C-49A2-8D5C-D9D4B70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00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Analyst response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Assign, investigate, resolve</a:t>
            </a:r>
          </a:p>
        </p:txBody>
      </p:sp>
      <p:sp>
        <p:nvSpPr>
          <p:cNvPr id="20" name="Streamlit">
            <a:extLst xmlns:a="http://schemas.openxmlformats.org/drawingml/2006/main">
              <a:ext uri="{FF2B5EF4-FFF2-40B4-BE49-F238E27FC236}">
                <a16:creationId xmlns:a16="http://schemas.microsoft.com/office/drawing/2014/main" id="{31A51F7B-4177-4653-9D2B-FCF5B2CC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Streamlit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Monitoring and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05B71-FDB8-4A24-874F-CCF8B680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95825"/>
            <a:ext cx="685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22" name="‹">
            <a:extLst xmlns:a="http://schemas.openxmlformats.org/drawingml/2006/main">
              <a:ext uri="{FF2B5EF4-FFF2-40B4-BE49-F238E27FC236}">
                <a16:creationId xmlns:a16="http://schemas.microsoft.com/office/drawing/2014/main" id="{223C5F22-F54E-4F13-9DD1-4CD31FD5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862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08080"/>
                </a:solidFill>
                <a:latin typeface="Aptos"/>
                <a:ea typeface="Aptos"/>
                <a:cs typeface="Aptos"/>
              </a:rPr>
              <a:t>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C2C31-A35F-47E4-B1DC-D9CA9FEC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95825"/>
            <a:ext cx="685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24" name="‹">
            <a:extLst xmlns:a="http://schemas.openxmlformats.org/drawingml/2006/main">
              <a:ext uri="{FF2B5EF4-FFF2-40B4-BE49-F238E27FC236}">
                <a16:creationId xmlns:a16="http://schemas.microsoft.com/office/drawing/2014/main" id="{89F4AE93-66FE-4C25-82F3-915B7E1D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008080"/>
                </a:solidFill>
                <a:latin typeface="Aptos"/>
                <a:ea typeface="Aptos"/>
                <a:cs typeface="Aptos"/>
              </a:rPr>
              <a:t>‹</a:t>
            </a:r>
          </a:p>
        </p:txBody>
      </p:sp>
      <p:sp>
        <p:nvSpPr>
          <p:cNvPr id="25" name="Detection also stores alerts in MongoDB. Stable detection keys li">
            <a:extLst xmlns:a="http://schemas.openxmlformats.org/drawingml/2006/main">
              <a:ext uri="{FF2B5EF4-FFF2-40B4-BE49-F238E27FC236}">
                <a16:creationId xmlns:a16="http://schemas.microsoft.com/office/drawing/2014/main" id="{EE9C0407-618B-4DE6-A788-00F0B4D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Detection also stores alerts in MongoDB. Stable detection keys link alerts to SQL cases.</a:t>
            </a:r>
          </a:p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MySQL transactions protect case changes. The two stores do not share one transaction.</a:t>
            </a:r>
          </a:p>
        </p:txBody>
      </p:sp>
    </p:spTree>
    <p:extLst>
      <p:ext uri="{BB962C8B-B14F-4D97-AF65-F5344CB8AC3E}">
        <p14:creationId xmlns:p14="http://schemas.microsoft.com/office/powerpoint/2010/main" val="1790369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B05327A-1472-4A1B-B57D-17C15BA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Requirements &amp; Technology Stack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3A7A25-697E-4141-9436-3254836D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854896-4935-4DAB-87E8-B0151CBA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1795F-4D65-49A9-B714-AA8A72FBE8AD}"/>
              </a:ext>
            </a:extLst>
          </p:cNvPr>
          <p:cNvGraphicFramePr/>
          <p:nvPr/>
        </p:nvGraphicFramePr>
        <p:xfrm>
          <a:off xmlns:a="http://schemas.openxmlformats.org/drawingml/2006/main" x="819150" y="1714500"/>
          <a:ext xmlns:a="http://schemas.openxmlformats.org/drawingml/2006/main" cx="105156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7181850"/>
              </a:tblGrid>
              <a:tr h="46808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Technology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Project use and reason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Python 3.11+, Pandas, NumPy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ETL, validation and detection in modular services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MySQL 8+ / InnoDB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Relational entities, constraints and transactional case updates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MongoDB / PyMongo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Variable raw logs, nested evidence and upload history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Streamlit / Plotly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Interactive analyst interface and charts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scikit-learn / Random Forest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Network classification in the separate ML version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pytest / python-dotenv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Repeatable tests and credentials outside source code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ocal setup: Windows, Python virtual environment and running MySQ">
            <a:extLst xmlns:a="http://schemas.openxmlformats.org/drawingml/2006/main">
              <a:ext uri="{FF2B5EF4-FFF2-40B4-BE49-F238E27FC236}">
                <a16:creationId xmlns:a16="http://schemas.microsoft.com/office/drawing/2014/main" id="{6C06E6A2-B77A-49D2-8684-4661960F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Local setup: Windows, Python virtual environment and running MySQL/MongoDB services. Docker is optional.</a:t>
            </a:r>
          </a:p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Planning recommendation: 8 GB RAM and space for datasets, databases and the model.</a:t>
            </a:r>
          </a:p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SQL could store JSON logs too. MongoDB is a modelling choice, not a SQL limitation.</a:t>
            </a:r>
          </a:p>
        </p:txBody>
      </p:sp>
    </p:spTree>
    <p:extLst>
      <p:ext uri="{BB962C8B-B14F-4D97-AF65-F5344CB8AC3E}">
        <p14:creationId xmlns:p14="http://schemas.microsoft.com/office/powerpoint/2010/main" val="1853680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B2DA054-C47C-4CF9-821D-657DE5A5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Database Design – ER Diagram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CC28FC-919F-4155-930B-1243BDFE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85915A-CFCD-4482-8A86-1B04164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6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B9D70337-EA70-40BE-ABEC-5B9E600D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PK user_id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source + external ID</a:t>
            </a:r>
          </a:p>
        </p:txBody>
      </p:sp>
      <p:sp>
        <p:nvSpPr>
          <p:cNvPr id="7" name="systems">
            <a:extLst xmlns:a="http://schemas.openxmlformats.org/drawingml/2006/main">
              <a:ext uri="{FF2B5EF4-FFF2-40B4-BE49-F238E27FC236}">
                <a16:creationId xmlns:a16="http://schemas.microsoft.com/office/drawing/2014/main" id="{98FBBB91-7C7B-4883-AD85-DBBD88E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systems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PK system_id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FK owner_id (optional)</a:t>
            </a:r>
          </a:p>
        </p:txBody>
      </p:sp>
      <p:sp>
        <p:nvSpPr>
          <p:cNvPr id="8" name="incidents">
            <a:extLst xmlns:a="http://schemas.openxmlformats.org/drawingml/2006/main">
              <a:ext uri="{FF2B5EF4-FFF2-40B4-BE49-F238E27FC236}">
                <a16:creationId xmlns:a16="http://schemas.microsoft.com/office/drawing/2014/main" id="{A6C9A1A7-CF78-413D-82C5-A943662F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4802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incidents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PK incident_id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FK user / system / category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UNIQUE detection_key</a:t>
            </a:r>
          </a:p>
        </p:txBody>
      </p:sp>
      <p:sp>
        <p:nvSpPr>
          <p:cNvPr id="9" name="threat_categories">
            <a:extLst xmlns:a="http://schemas.openxmlformats.org/drawingml/2006/main">
              <a:ext uri="{FF2B5EF4-FFF2-40B4-BE49-F238E27FC236}">
                <a16:creationId xmlns:a16="http://schemas.microsoft.com/office/drawing/2014/main" id="{4CB364BA-F75C-4D33-8F69-02837B8D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43075"/>
            <a:ext cx="2857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threat_categories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PK category_id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UNIQUE category_name</a:t>
            </a:r>
          </a:p>
        </p:txBody>
      </p:sp>
      <p:sp>
        <p:nvSpPr>
          <p:cNvPr id="10" name="analysts">
            <a:extLst xmlns:a="http://schemas.openxmlformats.org/drawingml/2006/main">
              <a:ext uri="{FF2B5EF4-FFF2-40B4-BE49-F238E27FC236}">
                <a16:creationId xmlns:a16="http://schemas.microsoft.com/office/drawing/2014/main" id="{BEEAA516-ADEC-4B0D-815B-0CF1357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430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analysts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PK analyst_id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name, team, active</a:t>
            </a:r>
          </a:p>
        </p:txBody>
      </p:sp>
      <p:sp>
        <p:nvSpPr>
          <p:cNvPr id="11" name="assignments">
            <a:extLst xmlns:a="http://schemas.openxmlformats.org/drawingml/2006/main">
              <a:ext uri="{FF2B5EF4-FFF2-40B4-BE49-F238E27FC236}">
                <a16:creationId xmlns:a16="http://schemas.microsoft.com/office/drawing/2014/main" id="{4D7844BC-A990-4833-A0CA-5CCF88AC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476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assignments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PK assignment_id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FK incident_id, analyst_id</a:t>
            </a:r>
          </a:p>
        </p:txBody>
      </p:sp>
      <p:sp>
        <p:nvSpPr>
          <p:cNvPr id="12" name="incident_audit_log">
            <a:extLst xmlns:a="http://schemas.openxmlformats.org/drawingml/2006/main">
              <a:ext uri="{FF2B5EF4-FFF2-40B4-BE49-F238E27FC236}">
                <a16:creationId xmlns:a16="http://schemas.microsoft.com/office/drawing/2014/main" id="{B500047F-3AB8-44D2-87A3-144E9F3D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67300"/>
            <a:ext cx="2857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6"/>
          </a:solidFill>
          <a:ln xmlns:a="http://schemas.openxmlformats.org/drawingml/2006/main" w="12383">
            <a:solidFill>
              <a:srgbClr val="008080"/>
            </a:solidFill>
          </a:ln>
        </p:spPr>
        <p:txBody>
          <a:bodyPr xmlns:a="http://schemas.openxmlformats.org/drawingml/2006/main" wrap="square" lIns="85725" tIns="85725" rIns="85725" bIns="857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incident_audit_log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PK audit_id</a:t>
            </a:r>
          </a:p>
          <a:p xmlns:a="http://schemas.openxmlformats.org/drawingml/2006/main">
            <a:pPr algn="ctr">
              <a:defRPr sz="172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FK incident_id, analyst_id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71FDB-D37E-476C-BDDD-CFCC3651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09850"/>
            <a:ext cx="1333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14" name="0..1 owner">
            <a:extLst xmlns:a="http://schemas.openxmlformats.org/drawingml/2006/main">
              <a:ext uri="{FF2B5EF4-FFF2-40B4-BE49-F238E27FC236}">
                <a16:creationId xmlns:a16="http://schemas.microsoft.com/office/drawing/2014/main" id="{56A75605-BBE6-4A88-A93E-64F83DB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0..1 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E6B4E-AE82-43D5-A4BB-65ECF83D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67125"/>
            <a:ext cx="13430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16" name="0..1 system">
            <a:extLst xmlns:a="http://schemas.openxmlformats.org/drawingml/2006/main">
              <a:ext uri="{FF2B5EF4-FFF2-40B4-BE49-F238E27FC236}">
                <a16:creationId xmlns:a16="http://schemas.microsoft.com/office/drawing/2014/main" id="{65B09F2E-5E82-46D9-BBF2-52108932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62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0..1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CC93C-3FFF-4A0E-A893-CF33474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09850"/>
            <a:ext cx="1333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18" name="1 category">
            <a:extLst xmlns:a="http://schemas.openxmlformats.org/drawingml/2006/main">
              <a:ext uri="{FF2B5EF4-FFF2-40B4-BE49-F238E27FC236}">
                <a16:creationId xmlns:a16="http://schemas.microsoft.com/office/drawing/2014/main" id="{AB0CB2A7-DDC8-480B-A4AB-44AA2DB1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003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1 category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9AAFB-30B8-4E00-B042-0D8D8087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790950"/>
            <a:ext cx="136207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20" name="1 : many">
            <a:extLst xmlns:a="http://schemas.openxmlformats.org/drawingml/2006/main">
              <a:ext uri="{FF2B5EF4-FFF2-40B4-BE49-F238E27FC236}">
                <a16:creationId xmlns:a16="http://schemas.microsoft.com/office/drawing/2014/main" id="{F777FA12-47A2-4C97-A8F6-5E1421B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05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1 : many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A48FF-8CDE-4538-8709-4A79AAE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9850"/>
            <a:ext cx="1333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22" name="1 : many">
            <a:extLst xmlns:a="http://schemas.openxmlformats.org/drawingml/2006/main">
              <a:ext uri="{FF2B5EF4-FFF2-40B4-BE49-F238E27FC236}">
                <a16:creationId xmlns:a16="http://schemas.microsoft.com/office/drawing/2014/main" id="{D1CAD36E-1D78-438F-A0BF-78747C64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0035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1 : many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C389C-C64C-4F72-B17B-E0AF1A1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86275"/>
            <a:ext cx="1333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 w="0">
            <a:noFill/>
          </a:ln>
        </p:spPr>
      </p:sp>
      <p:sp>
        <p:nvSpPr>
          <p:cNvPr id="24" name="1 : many">
            <a:extLst xmlns:a="http://schemas.openxmlformats.org/drawingml/2006/main">
              <a:ext uri="{FF2B5EF4-FFF2-40B4-BE49-F238E27FC236}">
                <a16:creationId xmlns:a16="http://schemas.microsoft.com/office/drawing/2014/main" id="{4F7ADCF7-A550-4778-88FE-0866AF5D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67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1 : many</a:t>
            </a:r>
          </a:p>
        </p:txBody>
      </p:sp>
      <p:sp>
        <p:nvSpPr>
          <p:cNvPr id="25" name="Other optional FKs:&#10;Incident to user. Audit to analyst.&#10;A user, s">
            <a:extLst xmlns:a="http://schemas.openxmlformats.org/drawingml/2006/main">
              <a:ext uri="{FF2B5EF4-FFF2-40B4-BE49-F238E27FC236}">
                <a16:creationId xmlns:a16="http://schemas.microsoft.com/office/drawing/2014/main" id="{55AF2ABF-6F22-428C-8C7B-2B71443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Other optional FKs:</a:t>
            </a:r>
          </a:p>
          <a:p xmlns:a="http://schemas.openxmlformats.org/drawingml/2006/main">
            <a: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Incident to user. Audit to analyst.</a:t>
            </a:r>
          </a:p>
          <a:p xmlns:a="http://schemas.openxmlformats.org/drawingml/2006/main">
            <a: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A user, system or category can have many incidents.</a:t>
            </a:r>
          </a:p>
        </p:txBody>
      </p:sp>
      <p:sp>
        <p:nvSpPr>
          <p:cNvPr id="26" name="One incident has many assignment and audit records.">
            <a:extLst xmlns:a="http://schemas.openxmlformats.org/drawingml/2006/main">
              <a:ext uri="{FF2B5EF4-FFF2-40B4-BE49-F238E27FC236}">
                <a16:creationId xmlns:a16="http://schemas.microsoft.com/office/drawing/2014/main" id="{BE6134FA-F6BA-4BB0-A32E-0EA264C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One incident has many assignment and audit records.</a:t>
            </a:r>
          </a:p>
        </p:txBody>
      </p:sp>
    </p:spTree>
    <p:extLst>
      <p:ext uri="{BB962C8B-B14F-4D97-AF65-F5344CB8AC3E}">
        <p14:creationId xmlns:p14="http://schemas.microsoft.com/office/powerpoint/2010/main" val="360835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7917096-121B-48FB-A368-2610BC84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Relational Schema &amp; Normalization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1B181BB-22BD-4E7E-9BB0-72D25D6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74A9D2-13EC-46C1-9245-C7CD271D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FD985-4228-437B-B30C-77975D6FECE5}"/>
              </a:ext>
            </a:extLst>
          </p:cNvPr>
          <p:cNvGraphicFramePr/>
          <p:nvPr/>
        </p:nvGraphicFramePr>
        <p:xfrm>
          <a:off xmlns:a="http://schemas.openxmlformats.org/drawingml/2006/main" x="819150" y="1714500"/>
          <a:ext xmlns:a="http://schemas.openxmlformats.org/drawingml/2006/main" cx="105156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7562850"/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Relation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Key columns and main attributes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users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PK user_id, username, source_dataset, external_user_id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systems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PK system_id, FK owner_id, hostname, IP, source_dataset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analysts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PK analyst_id, name, role, team, active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threat_categories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PK category_id, UNIQUE category_name, default_severity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incidents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PK incident_id, FK user_id/system_id/category_id, status, severity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assignments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PK assignment_id, FK incident_id/analyst_id, response, timestamps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incident_audit_log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PK audit_id, FK incident_id/analyst_id, action, old/new status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ormalization: atomic columns and single-column surrogate keys su">
            <a:extLst xmlns:a="http://schemas.openxmlformats.org/drawingml/2006/main">
              <a:ext uri="{FF2B5EF4-FFF2-40B4-BE49-F238E27FC236}">
                <a16:creationId xmlns:a16="http://schemas.microsoft.com/office/drawing/2014/main" id="{47A674BB-DED3-4F78-9094-4618D773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Normalization: atomic columns and single-column surrogate keys support 1NF and 2NF.</a:t>
            </a:r>
          </a:p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Separate entity, category and response-history tables avoid repeated descriptive details and support the intended 3NF design.</a:t>
            </a:r>
          </a:p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Integrity: CHECK status/severity, source-local entity uniqueness and UNIQUE detection_key.</a:t>
            </a:r>
          </a:p>
        </p:txBody>
      </p:sp>
    </p:spTree>
    <p:extLst>
      <p:ext uri="{BB962C8B-B14F-4D97-AF65-F5344CB8AC3E}">
        <p14:creationId xmlns:p14="http://schemas.microsoft.com/office/powerpoint/2010/main" val="1796663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903388-6C6D-452A-B047-282DC29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Implementation &amp; SQL Operations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2C262E-4A16-4DA6-BCAD-1F6B336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0A1C29F-81AF-4CF3-B3AE-B218EE91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8</a:t>
            </a:r>
          </a:p>
        </p:txBody>
      </p:sp>
      <p:sp>
        <p:nvSpPr>
          <p:cNvPr id="6" name="10 SQL analyses cover joins, subqueries, HAVING, workload and res">
            <a:extLst xmlns:a="http://schemas.openxmlformats.org/drawingml/2006/main">
              <a:ext uri="{FF2B5EF4-FFF2-40B4-BE49-F238E27FC236}">
                <a16:creationId xmlns:a16="http://schemas.microsoft.com/office/drawing/2014/main" id="{A68A0CE0-22F3-4ED9-8EBA-32AE11FE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10 SQL analyses cover joins, subqueries, HAVING, workload and response time.</a:t>
            </a:r>
          </a:p>
        </p:txBody>
      </p:sp>
      <p:sp>
        <p:nvSpPr>
          <p:cNvPr id="7" name="SELECT tc.category_name, i.severity, COUNT(*) AS cases&#10;FROM incid">
            <a:extLst xmlns:a="http://schemas.openxmlformats.org/drawingml/2006/main">
              <a:ext uri="{FF2B5EF4-FFF2-40B4-BE49-F238E27FC236}">
                <a16:creationId xmlns:a16="http://schemas.microsoft.com/office/drawing/2014/main" id="{06DBB347-E9B1-4FEF-88A6-CABC4F51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0477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SELECT tc.category_name, i.severity, COUNT(*) AS cases</a:t>
            </a:r>
          </a:p>
          <a:p xmlns:a="http://schemas.openxmlformats.org/drawingml/2006/main">
            <a: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FROM incidents AS i</a:t>
            </a:r>
          </a:p>
          <a:p xmlns:a="http://schemas.openxmlformats.org/drawingml/2006/main">
            <a: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JOIN threat_categories AS tc</a:t>
            </a:r>
          </a:p>
          <a:p xmlns:a="http://schemas.openxmlformats.org/drawingml/2006/main">
            <a: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  ON tc.category_id = i.category_id</a:t>
            </a:r>
          </a:p>
          <a:p xmlns:a="http://schemas.openxmlformats.org/drawingml/2006/main">
            <a: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GROUP BY tc.category_name, i.severity</a:t>
            </a:r>
          </a:p>
          <a:p xmlns:a="http://schemas.openxmlformats.org/drawingml/2006/main">
            <a: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HAVING COUNT(*) &gt;= 5</a:t>
            </a:r>
          </a:p>
          <a:p xmlns:a="http://schemas.openxmlformats.org/drawingml/2006/main">
            <a:pPr algn="l">
              <a:defRPr sz="1875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ORDER BY cases DESC;</a:t>
            </a:r>
          </a:p>
        </p:txBody>
      </p:sp>
      <p:sp>
        <p:nvSpPr>
          <p:cNvPr id="8" name="CRUD workflow: create a case, retrieve joined context, update its">
            <a:extLst xmlns:a="http://schemas.openxmlformats.org/drawingml/2006/main">
              <a:ext uri="{FF2B5EF4-FFF2-40B4-BE49-F238E27FC236}">
                <a16:creationId xmlns:a16="http://schemas.microsoft.com/office/drawing/2014/main" id="{3CA22316-38AA-4B64-9C67-8396945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CRUD workflow: create a case, retrieve joined context, update its status and resolve it.</a:t>
            </a:r>
          </a:p>
          <a:p xmlns:a="http://schemas.openxmlformats.org/drawingml/2006/main">
            <a: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The analyst workflow retains history rather than exposing a delete button.</a:t>
            </a:r>
          </a:p>
          <a:p xmlns:a="http://schemas.openxmlformats.org/drawingml/2006/main">
            <a: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Two procedure definitions include a user security summary.</a:t>
            </a:r>
          </a:p>
        </p:txBody>
      </p:sp>
      <p:sp>
        <p:nvSpPr>
          <p:cNvPr id="9" name="Synthetic proof record: open case, unknown user/system, unique de">
            <a:extLst xmlns:a="http://schemas.openxmlformats.org/drawingml/2006/main">
              <a:ext uri="{FF2B5EF4-FFF2-40B4-BE49-F238E27FC236}">
                <a16:creationId xmlns:a16="http://schemas.microsoft.com/office/drawing/2014/main" id="{450C85DD-FB05-4A29-9FFE-8554F9E5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Synthetic proof record: open case, unknown user/system, unique detection key.</a:t>
            </a:r>
          </a:p>
          <a:p xmlns:a="http://schemas.openxmlformats.org/drawingml/2006/main">
            <a:pPr algn="l">
              <a:defRPr sz="13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After assignment: assigned case, 1 assignment and 1 audit row. Test fixture then removed.</a:t>
            </a:r>
          </a:p>
        </p:txBody>
      </p:sp>
    </p:spTree>
    <p:extLst>
      <p:ext uri="{BB962C8B-B14F-4D97-AF65-F5344CB8AC3E}">
        <p14:creationId xmlns:p14="http://schemas.microsoft.com/office/powerpoint/2010/main" val="2053643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903388-6C6D-452A-B047-282DC29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559743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defPPr>
            <a:lvl1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1pPr>
            <a:lvl2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2pPr>
            <a:lvl3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3pPr>
            <a:lvl4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4pPr>
            <a:lvl5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5pPr>
            <a:lvl6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6pPr>
            <a:lvl7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7pPr>
            <a:lvl8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8pPr>
            <a:lvl9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rPr>
              <a:t>MongoDB Integration &amp; Aggregation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2C262E-4A16-4DA6-BCAD-1F6B336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0A1C29F-81AF-4CF3-B3AE-B218EE91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214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4EC78-6F48-4363-B82C-7C7931AE47A0}"/>
              </a:ext>
            </a:extLst>
          </p:cNvPr>
          <p:cNvGraphicFramePr/>
          <p:nvPr/>
        </p:nvGraphicFramePr>
        <p:xfrm>
          <a:off xmlns:a="http://schemas.openxmlformats.org/drawingml/2006/main" x="819150" y="1733550"/>
          <a:ext xmlns:a="http://schemas.openxmlformats.org/drawingml/2006/main" cx="10515600" cy="2286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3723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Collection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Stored evidence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security_events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Raw CSV row, normalized event, original labels and provenance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security_alerts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Rule/model evidence, event references and detection key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ingestion_uploads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Filename, SHA-256 identity and source inclusion setting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ingestion_runs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Each import attempt, timestamps and insertion summary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ailed-logins aggregation">
            <a:extLst xmlns:a="http://schemas.openxmlformats.org/drawingml/2006/main">
              <a:ext uri="{FF2B5EF4-FFF2-40B4-BE49-F238E27FC236}">
                <a16:creationId xmlns:a16="http://schemas.microsoft.com/office/drawing/2014/main" id="{04B72A4A-8681-4569-8522-C4E77554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8080"/>
                </a:solidFill>
                <a:latin typeface="Aptos"/>
                <a:ea typeface="Aptos"/>
                <a:cs typeface="Aptos"/>
              </a:rPr>
              <a:t>Failed-logins aggregation</a:t>
            </a:r>
          </a:p>
        </p:txBody>
      </p:sp>
      <p:sp>
        <p:nvSpPr>
          <p:cNvPr id="8" name="[ { &quot;$match&quot;: { &quot;authentication_result&quot;: &quot;failure&quot; } },&#10;  { &quot;$gro">
            <a:extLst xmlns:a="http://schemas.openxmlformats.org/drawingml/2006/main">
              <a:ext uri="{FF2B5EF4-FFF2-40B4-BE49-F238E27FC236}">
                <a16:creationId xmlns:a16="http://schemas.microsoft.com/office/drawing/2014/main" id="{C934BACA-2B0E-406F-A540-CAFF064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[ { "$match": { "authentication_result": "failure" } },</a:t>
            </a:r>
          </a:p>
          <a:p xmlns:a="http://schemas.openxmlformats.org/drawingml/2006/main">
            <a: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  { "$group": { "_id": "$user_id", "failures": { "$sum": 1 } } },</a:t>
            </a:r>
          </a:p>
          <a:p xmlns:a="http://schemas.openxmlformats.org/drawingml/2006/main">
            <a:pPr algn="l">
              <a:defRPr sz="1800" b="0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3759"/>
                </a:solidFill>
                <a:latin typeface="Aptos"/>
                <a:ea typeface="Aptos"/>
                <a:cs typeface="Aptos"/>
              </a:rPr>
              <a:t>  { "$sort": { "failures": -1 } } ]</a:t>
            </a:r>
          </a:p>
        </p:txBody>
      </p:sp>
      <p:sp>
        <p:nvSpPr>
          <p:cNvPr id="9" name="Six saved pipelines cover counts, trends, sources, users and high">
            <a:extLst xmlns:a="http://schemas.openxmlformats.org/drawingml/2006/main">
              <a:ext uri="{FF2B5EF4-FFF2-40B4-BE49-F238E27FC236}">
                <a16:creationId xmlns:a16="http://schemas.microsoft.com/office/drawing/2014/main" id="{BC450FE3-8647-4D57-BD18-FBD4FF73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Six saved pipelines cover counts, trends, sources, users and high-severity alerts.</a:t>
            </a:r>
          </a:p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Source inclusion filters apply before aggregation. Excluding a CSV does not delete it.</a:t>
            </a:r>
          </a:p>
        </p:txBody>
      </p:sp>
    </p:spTree>
    <p:extLst>
      <p:ext uri="{BB962C8B-B14F-4D97-AF65-F5344CB8AC3E}">
        <p14:creationId xmlns:p14="http://schemas.microsoft.com/office/powerpoint/2010/main" val="20536435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A39D762-AD39-4A29-B1DB-7C78C1CE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Results / Screenshots / Demonstration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496F73-D23D-4163-BA8C-FBF347E5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5435172-93B9-4AC4-A718-9225B9C2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7860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FC8CF-497F-4453-BEBF-1D374C454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596b945994bb8"/>
          <a:stretch xmlns:a="http://schemas.openxmlformats.org/drawingml/2006/main"/>
        </p:blipFill>
        <p:spPr>
          <a:xfrm xmlns:a="http://schemas.openxmlformats.org/drawingml/2006/main">
            <a:off x="828675" y="1685925"/>
            <a:ext cx="7315200" cy="4114800"/>
          </a:xfrm>
          <a:prstGeom xmlns:a="http://schemas.openxmlformats.org/drawingml/2006/main" prst="rect">
            <a:avLst/>
          </a:prstGeom>
        </p:spPr>
      </p:pic>
      <p:sp>
        <p:nvSpPr>
          <p:cNvPr id="7" name="Working snapshot">
            <a:extLst xmlns:a="http://schemas.openxmlformats.org/drawingml/2006/main">
              <a:ext uri="{FF2B5EF4-FFF2-40B4-BE49-F238E27FC236}">
                <a16:creationId xmlns:a16="http://schemas.microsoft.com/office/drawing/2014/main" id="{62DB1763-B915-41C4-966A-439D9C4B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90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8080"/>
                </a:solidFill>
                <a:latin typeface="Aptos"/>
                <a:ea typeface="Aptos"/>
                <a:cs typeface="Aptos"/>
              </a:rPr>
              <a:t>Working snapshot</a:t>
            </a:r>
          </a:p>
        </p:txBody>
      </p:sp>
      <p:sp>
        <p:nvSpPr>
          <p:cNvPr id="8" name="20,252 stored events&#10;6,169 incidents&#10;545 failed logins&#10;25 affecte">
            <a:extLst xmlns:a="http://schemas.openxmlformats.org/drawingml/2006/main">
              <a:ext uri="{FF2B5EF4-FFF2-40B4-BE49-F238E27FC236}">
                <a16:creationId xmlns:a16="http://schemas.microsoft.com/office/drawing/2014/main" id="{25808FB2-23EB-480D-B17F-CB2731DA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43150"/>
            <a:ext cx="285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20,252 stored events</a:t>
            </a:r>
          </a:p>
          <a:p xmlns:a="http://schemas.openxmlformats.org/drawingml/2006/main">
            <a: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6,169 incidents</a:t>
            </a:r>
          </a:p>
          <a:p xmlns:a="http://schemas.openxmlformats.org/drawingml/2006/main">
            <a: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545 failed logins</a:t>
            </a:r>
          </a:p>
          <a:p xmlns:a="http://schemas.openxmlformats.org/drawingml/2006/main">
            <a:pPr algn="l">
              <a:defRPr sz="187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25 affected identities</a:t>
            </a:r>
          </a:p>
        </p:txBody>
      </p:sp>
      <p:sp>
        <p:nvSpPr>
          <p:cNvPr id="9" name="Mixed historical rule and model results. Counts are not model acc">
            <a:extLst xmlns:a="http://schemas.openxmlformats.org/drawingml/2006/main">
              <a:ext uri="{FF2B5EF4-FFF2-40B4-BE49-F238E27FC236}">
                <a16:creationId xmlns:a16="http://schemas.microsoft.com/office/drawing/2014/main" id="{C512723A-3A62-4CAC-8D0D-7EF8CE3A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267200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Mixed historical rule and model results. Counts are not model accuracy.</a:t>
            </a:r>
          </a:p>
        </p:txBody>
      </p:sp>
      <p:sp>
        <p:nvSpPr>
          <p:cNvPr id="10" name="Demo: import a fresh 12-row synthetic CSV, inspect MongoDB, open ">
            <a:extLst xmlns:a="http://schemas.openxmlformats.org/drawingml/2006/main">
              <a:ext uri="{FF2B5EF4-FFF2-40B4-BE49-F238E27FC236}">
                <a16:creationId xmlns:a16="http://schemas.microsoft.com/office/drawing/2014/main" id="{95069D88-3A3D-4830-B560-C5C82C1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10515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Demo: import a fresh 12-row synthetic CSV, inspect MongoDB, open the two expected SQL incidents, assign an analyst, resolve a case and compare analytics.</a:t>
            </a:r>
          </a:p>
        </p:txBody>
      </p:sp>
    </p:spTree>
    <p:extLst>
      <p:ext uri="{BB962C8B-B14F-4D97-AF65-F5344CB8AC3E}">
        <p14:creationId xmlns:p14="http://schemas.microsoft.com/office/powerpoint/2010/main" val="1328769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E6D68C9-376B-4D1C-B94F-310C0F5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Testing &amp; Validation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35B5B0-5C41-4979-B0A3-7A02D308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3998675-85F2-43CD-8EEB-D58AC69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7860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11</a:t>
            </a:r>
          </a:p>
        </p:txBody>
      </p:sp>
      <p:sp>
        <p:nvSpPr>
          <p:cNvPr id="6" name="Saved verification: 97 unit/UI checks and 2 real-database integra">
            <a:extLst xmlns:a="http://schemas.openxmlformats.org/drawingml/2006/main">
              <a:ext uri="{FF2B5EF4-FFF2-40B4-BE49-F238E27FC236}">
                <a16:creationId xmlns:a16="http://schemas.microsoft.com/office/drawing/2014/main" id="{FE01377B-6389-4B18-B8E5-C84D8BAB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049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8080"/>
                </a:solidFill>
                <a:latin typeface="Aptos"/>
                <a:ea typeface="Aptos"/>
                <a:cs typeface="Aptos"/>
              </a:rPr>
              <a:t>Saved verification: 97 unit/UI checks and 2 real-database integration checks passed.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823D8-B54C-4121-898F-732C33D37603}"/>
              </a:ext>
            </a:extLst>
          </p:cNvPr>
          <p:cNvGraphicFramePr/>
          <p:nvPr/>
        </p:nvGraphicFramePr>
        <p:xfrm>
          <a:off xmlns:a="http://schemas.openxmlformats.org/drawingml/2006/main" x="819150" y="2324100"/>
          <a:ext xmlns:a="http://schemas.openxmlformats.org/drawingml/2006/main" cx="10515600" cy="2886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4286250"/>
                <a:gridCol w="1704975"/>
              </a:tblGrid>
              <a:tr h="41229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Test case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Expected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Recorded outcome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Exactly 5 failures in 5 minutes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1 high-severity alert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Only 4 failures / failures outside window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No threshold alert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3 successful access origins in window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Suspicious-access alert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Malformed time / invalid status or analyst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Validation error, no invalid change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Same event / same detection imported again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No duplicate event or incident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Assign and resolve with real databases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Persistent state and response history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Network holdout: 889 flows, 751 TP, 38 FN, 0 FP, 100 TN. Recall 9">
            <a:extLst xmlns:a="http://schemas.openxmlformats.org/drawingml/2006/main">
              <a:ext uri="{FF2B5EF4-FFF2-40B4-BE49-F238E27FC236}">
                <a16:creationId xmlns:a16="http://schemas.microsoft.com/office/drawing/2014/main" id="{F66EE139-E276-4A23-82BE-6DF15EE6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Network holdout: 889 flows, 751 TP, 38 FN, 0 FP, 100 TN. Recall 95.18%, F1 97.53%.</a:t>
            </a:r>
          </a:p>
          <a:p xmlns:a="http://schemas.openxmlformats.org/drawingml/2006/main">
            <a: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Training F1 98.63%. The small gap is reassuring but does not establish external validity.</a:t>
            </a:r>
          </a:p>
          <a:p xmlns:a="http://schemas.openxmlformats.org/drawingml/2006/main">
            <a:pPr algn="l">
              <a:defRPr sz="165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The supplied data shares a generator. Independent traffic validation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1870845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E6D68C9-376B-4D1C-B94F-310C0F5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7177405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defPPr>
            <a:lvl1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1pPr>
            <a:lvl2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2pPr>
            <a:lvl3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3pPr>
            <a:lvl4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4pPr>
            <a:lvl5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5pPr>
            <a:lvl6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6pPr>
            <a:lvl7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7pPr>
            <a:lvl8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8pPr>
            <a:lvl9pPr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rPr>
              <a:t>ACID Properties &amp; Codd Rules: Project Evidence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635B5B0-5C41-4979-B0A3-7A02D308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3998675-85F2-43CD-8EEB-D58AC69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7860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12</a:t>
            </a:r>
          </a:p>
        </p:txBody>
      </p:sp>
      <p:sp>
        <p:nvSpPr>
          <p:cNvPr id="6" name="Live MySQL verification, 24 Oct 2026">
            <a:extLst xmlns:a="http://schemas.openxmlformats.org/drawingml/2006/main">
              <a:ext uri="{FF2B5EF4-FFF2-40B4-BE49-F238E27FC236}">
                <a16:creationId xmlns:a16="http://schemas.microsoft.com/office/drawing/2014/main" id="{86247860-B36E-42CE-9C2F-5524F4F8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5000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808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8080"/>
                </a:solidFill>
                <a:latin typeface="Aptos"/>
                <a:ea typeface="Aptos"/>
                <a:cs typeface="Aptos"/>
              </a:rPr>
              <a:t>Live MySQL verification, 24 Oct 2026</a:t>
            </a:r>
          </a:p>
        </p:txBody>
      </p:sp>
      <p:sp>
        <p:nvSpPr>
          <p:cNvPr id="7" name="Atomicity">
            <a:extLst xmlns:a="http://schemas.openxmlformats.org/drawingml/2006/main">
              <a:ext uri="{FF2B5EF4-FFF2-40B4-BE49-F238E27FC236}">
                <a16:creationId xmlns:a16="http://schemas.microsoft.com/office/drawing/2014/main" id="{5D85D47A-EFF4-4389-9450-5304799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3759"/>
                </a:solidFill>
                <a:latin typeface="Aptos"/>
                <a:ea typeface="Aptos"/>
                <a:cs typeface="Aptos"/>
              </a:rPr>
              <a:t>Atomicity</a:t>
            </a:r>
          </a:p>
        </p:txBody>
      </p:sp>
      <p:sp>
        <p:nvSpPr>
          <p:cNvPr id="8" name="Injected failure before commit: case stays open.&#10;0 assignments an">
            <a:extLst xmlns:a="http://schemas.openxmlformats.org/drawingml/2006/main">
              <a:ext uri="{FF2B5EF4-FFF2-40B4-BE49-F238E27FC236}">
                <a16:creationId xmlns:a16="http://schemas.microsoft.com/office/drawing/2014/main" id="{1056475F-68CE-425A-8FE3-693C8568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500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Injected failure before commit: case stays open.</a:t>
            </a:r>
          </a:p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0 assignments and 0 audit rows remain.</a:t>
            </a:r>
          </a:p>
        </p:txBody>
      </p:sp>
      <p:sp>
        <p:nvSpPr>
          <p:cNvPr id="9" name="Consistency">
            <a:extLst xmlns:a="http://schemas.openxmlformats.org/drawingml/2006/main">
              <a:ext uri="{FF2B5EF4-FFF2-40B4-BE49-F238E27FC236}">
                <a16:creationId xmlns:a16="http://schemas.microsoft.com/office/drawing/2014/main" id="{71B6A7F8-3A13-4AD8-8519-BBD3FF12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3759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10" name="DB rejects invalid severity (3819), analyst FK&#10;(1216) and duplica">
            <a:extLst xmlns:a="http://schemas.openxmlformats.org/drawingml/2006/main">
              <a:ext uri="{FF2B5EF4-FFF2-40B4-BE49-F238E27FC236}">
                <a16:creationId xmlns:a16="http://schemas.microsoft.com/office/drawing/2014/main" id="{BFAEB8B0-E025-4F69-81E1-38115AE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00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DB rejects invalid severity (3819), analyst FK</a:t>
            </a:r>
          </a:p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(1216) and duplicate detection key (1062).</a:t>
            </a:r>
          </a:p>
        </p:txBody>
      </p:sp>
      <p:sp>
        <p:nvSpPr>
          <p:cNvPr id="11" name="Isolation">
            <a:extLst xmlns:a="http://schemas.openxmlformats.org/drawingml/2006/main">
              <a:ext uri="{FF2B5EF4-FFF2-40B4-BE49-F238E27FC236}">
                <a16:creationId xmlns:a16="http://schemas.microsoft.com/office/drawing/2014/main" id="{EA37EE53-407D-470A-979E-E45571A5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3759"/>
                </a:solidFill>
                <a:latin typeface="Aptos"/>
                <a:ea typeface="Aptos"/>
                <a:cs typeface="Aptos"/>
              </a:rPr>
              <a:t>Isolation</a:t>
            </a:r>
          </a:p>
        </p:txBody>
      </p:sp>
      <p:sp>
        <p:nvSpPr>
          <p:cNvPr id="12" name="Session B sees the old committed status.&#10;NOWAIT lock conflict ret">
            <a:extLst xmlns:a="http://schemas.openxmlformats.org/drawingml/2006/main">
              <a:ext uri="{FF2B5EF4-FFF2-40B4-BE49-F238E27FC236}">
                <a16:creationId xmlns:a16="http://schemas.microsoft.com/office/drawing/2014/main" id="{7E4E16CB-B1FD-43B3-AB5E-C6B15C1D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00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Session B sees the old committed status.</a:t>
            </a:r>
          </a:p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NOWAIT lock conflict returns error 3572.</a:t>
            </a:r>
          </a:p>
        </p:txBody>
      </p:sp>
      <p:sp>
        <p:nvSpPr>
          <p:cNvPr id="13" name="Durability check">
            <a:extLst xmlns:a="http://schemas.openxmlformats.org/drawingml/2006/main">
              <a:ext uri="{FF2B5EF4-FFF2-40B4-BE49-F238E27FC236}">
                <a16:creationId xmlns:a16="http://schemas.microsoft.com/office/drawing/2014/main" id="{5FE90CF4-4503-4CF1-8D07-6DDAFCF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F37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3759"/>
                </a:solidFill>
                <a:latin typeface="Aptos"/>
                <a:ea typeface="Aptos"/>
                <a:cs typeface="Aptos"/>
              </a:rPr>
              <a:t>Durability check</a:t>
            </a:r>
          </a:p>
        </p:txBody>
      </p:sp>
      <p:sp>
        <p:nvSpPr>
          <p:cNvPr id="14" name="Commit, reconnect and read: assigned case,&#10;1 assignment, 1 audit.">
            <a:extLst xmlns:a="http://schemas.openxmlformats.org/drawingml/2006/main">
              <a:ext uri="{FF2B5EF4-FFF2-40B4-BE49-F238E27FC236}">
                <a16:creationId xmlns:a16="http://schemas.microsoft.com/office/drawing/2014/main" id="{53E9A21C-DB3B-461A-AF5A-AC8D838C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500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Commit, reconnect and read: assigned case,</a:t>
            </a:r>
          </a:p>
          <a:p xmlns:a="http://schemas.openxmlformats.org/drawingml/2006/main">
            <a:pPr algn="l">
              <a:defRPr sz="1500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1 assignment, 1 audit. No crash test.</a:t>
            </a:r>
          </a:p>
        </p:txBody>
      </p:sp>
      <p:sp>
        <p:nvSpPr>
          <p:cNvPr id="15" name="InnoDB, MySQL 8.0.46, REPEATABLE READ.&#10;flush_at_commit=1, sync_bi">
            <a:extLst xmlns:a="http://schemas.openxmlformats.org/drawingml/2006/main">
              <a:ext uri="{FF2B5EF4-FFF2-40B4-BE49-F238E27FC236}">
                <a16:creationId xmlns:a16="http://schemas.microsoft.com/office/drawing/2014/main" id="{D4D040FA-A5BA-42DA-AE67-6897B81E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InnoDB, MySQL 8.0.46, REPEATABLE READ.</a:t>
            </a:r>
          </a:p>
          <a:p xmlns:a="http://schemas.openxmlformats.org/drawingml/2006/main">
            <a:pPr algn="l">
              <a:defRPr sz="1425" b="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05A64"/>
                </a:solidFill>
                <a:latin typeface="Aptos"/>
                <a:ea typeface="Aptos"/>
                <a:cs typeface="Aptos"/>
              </a:rPr>
              <a:t>flush_at_commit=1, sync_binlog=1. Fixture cleaned.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D7825-9198-4954-BD73-9B1BD8EF0E73}"/>
              </a:ext>
            </a:extLst>
          </p:cNvPr>
          <p:cNvGraphicFramePr/>
          <p:nvPr/>
        </p:nvGraphicFramePr>
        <p:xfrm>
          <a:off xmlns:a="http://schemas.openxmlformats.org/drawingml/2006/main" x="6048375" y="1657350"/>
          <a:ext xmlns:a="http://schemas.openxmlformats.org/drawingml/2006/main" cx="53340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238500"/>
              </a:tblGrid>
              <a:tr h="303439">
                <a:tc>
                  <a:txBody>
                    <a:bodyPr/>
                    <a:lstStyle/>
                    <a:p>
                      <a:r>
                        <a:rPr sz="1223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Codd rule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 b="1">
                          <a:solidFill>
                            <a:srgbClr val="1F3759"/>
                          </a:solidFill>
                          <a:latin typeface="Aptos"/>
                          <a:ea typeface="Aptos"/>
                          <a:cs typeface="Aptos"/>
                        </a:rPr>
                        <a:t>Evidence / limitation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T w="6668">
                      <a:solidFill>
                        <a:srgbClr val="B8CCCC"/>
                      </a:solidFill>
                      <a:prstDash val="solid"/>
                    </a:lnT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EDF6F6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0  Relational foundation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SQL case workflow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1  Information in tables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Seven relational tables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2  Guaranteed access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Primary-key lookup checked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3  NULL handling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Unknown user/system checked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4  Online catalogue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INFORMATION_SCHEMA queried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5  Data language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DDL/DML/transactions only (partial)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6  Updatable views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Not demonstrated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7  Set-level operations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Set-based assignment updates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8  Physical independence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Engine capability, not tested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9  Logical independence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Not demonstrated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10  Integrity independence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Database constraints reject writes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11  Distribution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Independence not demonstrated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439"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12  Non-subversion</a:t>
                      </a:r>
                    </a:p>
                  </a:txBody>
                  <a:tcPr marL="85725" marR="85725" marT="47625" marB="47625" anchor="ctr">
                    <a:lnL w="6668">
                      <a:solidFill>
                        <a:srgbClr val="B8CCCC"/>
                      </a:solidFill>
                      <a:prstDash val="solid"/>
                    </a:lnL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3">
                          <a:solidFill>
                            <a:srgbClr val="505A64"/>
                          </a:solidFill>
                          <a:latin typeface="Aptos"/>
                          <a:ea typeface="Aptos"/>
                          <a:cs typeface="Aptos"/>
                        </a:rPr>
                        <a:t>Direct SQL rejection only (partial)</a:t>
                      </a:r>
                    </a:p>
                  </a:txBody>
                  <a:tcPr marL="85725" marR="85725" marT="47625" marB="47625" anchor="ctr">
                    <a:lnR w="6668">
                      <a:solidFill>
                        <a:srgbClr val="B8CCCC"/>
                      </a:solidFill>
                      <a:prstDash val="solid"/>
                    </a:lnR>
                    <a:lnB w="6668">
                      <a:solidFill>
                        <a:srgbClr val="B8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Evidence supports the stated tests, not full Codd compliance.&#10;The">
            <a:extLst xmlns:a="http://schemas.openxmlformats.org/drawingml/2006/main">
              <a:ext uri="{FF2B5EF4-FFF2-40B4-BE49-F238E27FC236}">
                <a16:creationId xmlns:a16="http://schemas.microsoft.com/office/drawing/2014/main" id="{2F2DEAEE-85DA-4E10-900F-119ED09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0293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422F"/>
                </a:solidFill>
                <a:latin typeface="Aptos"/>
                <a:ea typeface="Aptos"/>
                <a:cs typeface="Aptos"/>
              </a:rPr>
              <a:t>Evidence supports the stated tests, not full Codd compliance.</a:t>
            </a:r>
          </a:p>
          <a:p xmlns:a="http://schemas.openxmlformats.org/drawingml/2006/main">
            <a:pPr algn="l">
              <a:defRPr sz="1275" b="0">
                <a:solidFill>
                  <a:srgbClr val="9B42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422F"/>
                </a:solidFill>
                <a:latin typeface="Aptos"/>
                <a:ea typeface="Aptos"/>
                <a:cs typeface="Aptos"/>
              </a:rPr>
              <a:t>There is no shared MySQL–MongoDB atomic transaction.</a:t>
            </a:r>
          </a:p>
        </p:txBody>
      </p:sp>
    </p:spTree>
    <p:extLst>
      <p:ext uri="{BB962C8B-B14F-4D97-AF65-F5344CB8AC3E}">
        <p14:creationId xmlns:p14="http://schemas.microsoft.com/office/powerpoint/2010/main" val="1870845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0CE363-9A90-4965-84BC-783BDF1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Conclusion &amp; Future Scope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38F77BB-44C0-4C70-A9A3-D9B7BDBB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B46273-0993-4C02-849A-3AF10C7E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515600" cy="2565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09728" rIns="109728" bIns="109728">
            <a:noAutofit/>
          </a:bodyPr>
          <a:lstStyle xmlns:a="http://schemas.openxmlformats.org/drawingml/2006/main">
            <a:def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505A64"/>
                </a:solidFill>
                <a:latin typeface="Aptos"/>
                <a:ea typeface="Aptos"/>
                <a:cs typeface="Aptos"/>
              </a:rPr>
              <a:t>Achievements: the application preserves CSV evidence, creates deduplicated incidents and records analyst responses across MySQL and MongoDB.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505A64"/>
                </a:solidFill>
                <a:latin typeface="Aptos"/>
                <a:ea typeface="Aptos"/>
                <a:cs typeface="Aptos"/>
              </a:rPr>
              <a:t>Learning: relational constraints and transactions complement flexible document storage. Stable keys and provenance make the integration explainable.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505A64"/>
                </a:solidFill>
                <a:latin typeface="Aptos"/>
                <a:ea typeface="Aptos"/>
                <a:cs typeface="Aptos"/>
              </a:rPr>
              <a:t>Future scope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505A64"/>
                </a:solidFill>
                <a:latin typeface="Aptos"/>
                <a:ea typeface="Aptos"/>
                <a:cs typeface="Aptos"/>
              </a:rPr>
              <a:t>1. Add production authentication and role-based access control.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505A64"/>
                </a:solidFill>
                <a:latin typeface="Aptos"/>
                <a:ea typeface="Aptos"/>
                <a:cs typeface="Aptos"/>
              </a:rPr>
              <a:t>2. Add cross-store reconciliation and durable detection windows.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25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25">
                <a:solidFill>
                  <a:srgbClr val="505A64"/>
                </a:solidFill>
                <a:latin typeface="Aptos"/>
                <a:ea typeface="Aptos"/>
                <a:cs typeface="Aptos"/>
              </a:rPr>
              <a:t>3. Validate the model against independent network traffic.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693D5C5-4142-433D-A443-B459D71B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7860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13</a:t>
            </a:r>
          </a:p>
        </p:txBody>
      </p:sp>
    </p:spTree>
    <p:extLst>
      <p:ext uri="{BB962C8B-B14F-4D97-AF65-F5344CB8AC3E}">
        <p14:creationId xmlns:p14="http://schemas.microsoft.com/office/powerpoint/2010/main" val="12206683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07C0D4-FAA9-4806-929D-5EAD745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References &amp; Q&amp;A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DAF619-2388-4B06-AE0C-BC9E8525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9D9C7E2-8031-400D-BB46-8E5018E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515600" cy="311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09728" rIns="109728" bIns="109728">
            <a:noAutofit/>
          </a:bodyPr>
          <a:lstStyle xmlns:a="http://schemas.openxmlformats.org/drawingml/2006/main">
            <a:def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[1] Project repository and source evidence, commit 4bee733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      github.com/DereFX/cybersecurity-incident-monitoring-dashboard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[2] MySQL 8.0 Reference Manual, InnoDB and the ACID Model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      dev.mysql.com/doc/refman/8.0/en/mysql-acid.html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[3] MongoDB Manual, Data Modelling and Aggregation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      mongodb.com/docs/manual/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[4] scikit-learn, RandomForestClassifier documentation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      scikit-learn.org/stable/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[5] E. F. Codd, Is Your DBMS Really Relational? (1985), reprint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      reldb.org/c/index.php/twelve-rules/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18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05A64"/>
                </a:solidFill>
                <a:latin typeface="Aptos"/>
                <a:ea typeface="Aptos"/>
                <a:cs typeface="Aptos"/>
              </a:rPr>
              <a:t>Thank you. Questions?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25C70A-5468-4971-84B0-E7C662E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7860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14</a:t>
            </a:r>
          </a:p>
        </p:txBody>
      </p:sp>
    </p:spTree>
    <p:extLst>
      <p:ext uri="{BB962C8B-B14F-4D97-AF65-F5344CB8AC3E}">
        <p14:creationId xmlns:p14="http://schemas.microsoft.com/office/powerpoint/2010/main" val="10341233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8A66CF1-E8F2-4663-A7B4-FE08779B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>
                <a:solidFill>
                  <a:srgbClr val="1F3759"/>
                </a:solidFill>
                <a:latin typeface="Aptos Display"/>
                <a:ea typeface="Aptos Display"/>
                <a:cs typeface="Aptos Display"/>
              </a:defRPr>
            </a:pPr>
            <a:r>
              <a:t>Final Submission Checklist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7DA01F2-FB69-4760-B2B2-EE5E9A6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53312"/>
            <a:ext cx="109270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8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16BC2C-008D-4012-B9B4-61F540EB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515600" cy="2231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09728" rIns="109728" bIns="109728">
            <a:noAutofit/>
          </a:bodyPr>
          <a:lstStyle xmlns:a="http://schemas.openxmlformats.org/drawingml/2006/main">
            <a:def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defPPr>
            <a:lvl1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1pPr>
            <a:lvl2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2pPr>
            <a:lvl3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3pPr>
            <a:lvl4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4pPr>
            <a:lvl5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5pPr>
            <a:lvl6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6pPr>
            <a:lvl7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7pPr>
            <a:lvl8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8pPr>
            <a:lvl9pPr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505A64"/>
                </a:solidFill>
                <a:latin typeface="Aptos"/>
                <a:ea typeface="Aptos"/>
                <a:cs typeface="Aptos"/>
              </a:rPr>
              <a:t>Before the ESE slot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505A64"/>
                </a:solidFill>
                <a:latin typeface="Aptos"/>
                <a:ea typeface="Aptos"/>
                <a:cs typeface="Aptos"/>
              </a:rPr>
              <a:t>Confirm the report follows the supplied format. Fill the remaining guide and class details.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505A64"/>
                </a:solidFill>
                <a:latin typeface="Aptos"/>
                <a:ea typeface="Aptos"/>
                <a:cs typeface="Aptos"/>
              </a:rPr>
              <a:t>Upload the final report to Moodle.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505A64"/>
                </a:solidFill>
                <a:latin typeface="Aptos"/>
                <a:ea typeface="Aptos"/>
                <a:cs typeface="Aptos"/>
              </a:rPr>
              <a:t>Upload this presentation to Moodle.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505A64"/>
                </a:solidFill>
                <a:latin typeface="Aptos"/>
                <a:ea typeface="Aptos"/>
                <a:cs typeface="Aptos"/>
              </a:rPr>
              <a:t>Check that ER diagrams, schema, sample data and SQL outputs are readable.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505A64"/>
                </a:solidFill>
                <a:latin typeface="Aptos"/>
                <a:ea typeface="Aptos"/>
                <a:cs typeface="Aptos"/>
              </a:rPr>
              <a:t>Each member should prepare to explain their own contribution and the complete workflow.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8"/>
              </a:spcAft>
              <a:defRPr sz="2000">
                <a:solidFill>
                  <a:srgbClr val="505A64"/>
                </a:solidFill>
                <a:latin typeface="Aptos"/>
                <a:ea typeface="Aptos"/>
                <a:cs typeface="Aptos"/>
              </a:defRPr>
            </a:pPr>
            <a:r>
              <a:rPr sz="2000">
                <a:solidFill>
                  <a:srgbClr val="505A64"/>
                </a:solidFill>
                <a:latin typeface="Aptos"/>
                <a:ea typeface="Aptos"/>
                <a:cs typeface="Aptos"/>
              </a:rPr>
              <a:t>Rehearse the presentation and live demo within the allotted 10 minutes.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8804304-4AD3-47D0-907D-A5CC4FFC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407860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91440" rIns="91440" bIns="91440">
            <a:noAutofit/>
          </a:bodyPr>
          <a:lstStyle xmlns:a="http://schemas.openxmlformats.org/drawingml/2006/main">
            <a:def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defPPr>
            <a:lvl1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1pPr>
            <a:lvl2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2pPr>
            <a:lvl3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3pPr>
            <a:lvl4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4pPr>
            <a:lvl5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5pPr>
            <a:lvl6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6pPr>
            <a:lvl7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7pPr>
            <a:lvl8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8pPr>
            <a:lvl9pPr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8828C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78828C"/>
                </a:solidFill>
                <a:latin typeface="Calibri"/>
                <a:ea typeface="Calibri"/>
                <a:cs typeface="Calibri"/>
              </a:rPr>
              <a:t>DCDS ESE Project Presentation | SY Division: to be filled                                      Slide 15</a:t>
            </a:r>
          </a:p>
        </p:txBody>
      </p:sp>
    </p:spTree>
    <p:extLst>
      <p:ext uri="{BB962C8B-B14F-4D97-AF65-F5344CB8AC3E}">
        <p14:creationId xmlns:p14="http://schemas.microsoft.com/office/powerpoint/2010/main" val="817653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2026-10-24T15:45:46.7640000Z</dcterms:created>
  <dcterms:modified xsi:type="dcterms:W3CDTF">2026-10-24T15:45:46.7640000Z</dcterms:modified>
</coreProperties>
</file>